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943FFE-CC52-469C-B65C-2AC56664E8B2}" v="16" dt="2025-11-20T16:52:19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9" y="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37161" cy="13716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la Baci" userId="473fddf6-354f-4a55-bb0c-489699c5b784" providerId="ADAL" clId="{955CBDAC-7F7E-42A5-B2A1-D806DB2DB19E}"/>
    <pc:docChg chg="undo custSel addSld delSld modSld">
      <pc:chgData name="Nikola Baci" userId="473fddf6-354f-4a55-bb0c-489699c5b784" providerId="ADAL" clId="{955CBDAC-7F7E-42A5-B2A1-D806DB2DB19E}" dt="2025-11-20T17:02:30.149" v="1227" actId="47"/>
      <pc:docMkLst>
        <pc:docMk/>
      </pc:docMkLst>
      <pc:sldChg chg="modSp mod">
        <pc:chgData name="Nikola Baci" userId="473fddf6-354f-4a55-bb0c-489699c5b784" providerId="ADAL" clId="{955CBDAC-7F7E-42A5-B2A1-D806DB2DB19E}" dt="2025-11-20T15:37:28.917" v="48" actId="20577"/>
        <pc:sldMkLst>
          <pc:docMk/>
          <pc:sldMk cId="391949472" sldId="257"/>
        </pc:sldMkLst>
        <pc:spChg chg="mod">
          <ac:chgData name="Nikola Baci" userId="473fddf6-354f-4a55-bb0c-489699c5b784" providerId="ADAL" clId="{955CBDAC-7F7E-42A5-B2A1-D806DB2DB19E}" dt="2025-11-20T15:37:28.917" v="48" actId="20577"/>
          <ac:spMkLst>
            <pc:docMk/>
            <pc:sldMk cId="391949472" sldId="257"/>
            <ac:spMk id="3" creationId="{DDEC0E31-EE10-8352-C047-251367674F3F}"/>
          </ac:spMkLst>
        </pc:spChg>
      </pc:sldChg>
      <pc:sldChg chg="modSp mod">
        <pc:chgData name="Nikola Baci" userId="473fddf6-354f-4a55-bb0c-489699c5b784" providerId="ADAL" clId="{955CBDAC-7F7E-42A5-B2A1-D806DB2DB19E}" dt="2025-11-20T13:22:33.715" v="1" actId="20578"/>
        <pc:sldMkLst>
          <pc:docMk/>
          <pc:sldMk cId="1077932097" sldId="260"/>
        </pc:sldMkLst>
        <pc:spChg chg="mod">
          <ac:chgData name="Nikola Baci" userId="473fddf6-354f-4a55-bb0c-489699c5b784" providerId="ADAL" clId="{955CBDAC-7F7E-42A5-B2A1-D806DB2DB19E}" dt="2025-11-20T13:22:05.356" v="0" actId="20577"/>
          <ac:spMkLst>
            <pc:docMk/>
            <pc:sldMk cId="1077932097" sldId="260"/>
            <ac:spMk id="2" creationId="{94A54080-9E58-93B4-BCED-3F7DE03BE240}"/>
          </ac:spMkLst>
        </pc:spChg>
        <pc:spChg chg="mod">
          <ac:chgData name="Nikola Baci" userId="473fddf6-354f-4a55-bb0c-489699c5b784" providerId="ADAL" clId="{955CBDAC-7F7E-42A5-B2A1-D806DB2DB19E}" dt="2025-11-20T13:22:33.715" v="1" actId="20578"/>
          <ac:spMkLst>
            <pc:docMk/>
            <pc:sldMk cId="1077932097" sldId="260"/>
            <ac:spMk id="3" creationId="{943DC468-B739-E643-342F-D4208447DDAD}"/>
          </ac:spMkLst>
        </pc:spChg>
      </pc:sldChg>
      <pc:sldChg chg="modSp mod">
        <pc:chgData name="Nikola Baci" userId="473fddf6-354f-4a55-bb0c-489699c5b784" providerId="ADAL" clId="{955CBDAC-7F7E-42A5-B2A1-D806DB2DB19E}" dt="2025-11-20T13:24:23.036" v="3" actId="20577"/>
        <pc:sldMkLst>
          <pc:docMk/>
          <pc:sldMk cId="3760967270" sldId="266"/>
        </pc:sldMkLst>
        <pc:spChg chg="mod">
          <ac:chgData name="Nikola Baci" userId="473fddf6-354f-4a55-bb0c-489699c5b784" providerId="ADAL" clId="{955CBDAC-7F7E-42A5-B2A1-D806DB2DB19E}" dt="2025-11-20T13:24:23.036" v="3" actId="20577"/>
          <ac:spMkLst>
            <pc:docMk/>
            <pc:sldMk cId="3760967270" sldId="266"/>
            <ac:spMk id="3" creationId="{AD29734E-FA0B-0905-9563-83C37F68C369}"/>
          </ac:spMkLst>
        </pc:spChg>
      </pc:sldChg>
      <pc:sldChg chg="addSp delSp modSp new mod modClrScheme chgLayout">
        <pc:chgData name="Nikola Baci" userId="473fddf6-354f-4a55-bb0c-489699c5b784" providerId="ADAL" clId="{955CBDAC-7F7E-42A5-B2A1-D806DB2DB19E}" dt="2025-11-20T16:52:50.114" v="1225" actId="20577"/>
        <pc:sldMkLst>
          <pc:docMk/>
          <pc:sldMk cId="3983612520" sldId="267"/>
        </pc:sldMkLst>
        <pc:spChg chg="del mod ord">
          <ac:chgData name="Nikola Baci" userId="473fddf6-354f-4a55-bb0c-489699c5b784" providerId="ADAL" clId="{955CBDAC-7F7E-42A5-B2A1-D806DB2DB19E}" dt="2025-11-20T15:35:06.169" v="5" actId="700"/>
          <ac:spMkLst>
            <pc:docMk/>
            <pc:sldMk cId="3983612520" sldId="267"/>
            <ac:spMk id="2" creationId="{CD5C9414-14E2-BD60-72C9-358490FFE672}"/>
          </ac:spMkLst>
        </pc:spChg>
        <pc:spChg chg="del">
          <ac:chgData name="Nikola Baci" userId="473fddf6-354f-4a55-bb0c-489699c5b784" providerId="ADAL" clId="{955CBDAC-7F7E-42A5-B2A1-D806DB2DB19E}" dt="2025-11-20T15:35:06.169" v="5" actId="700"/>
          <ac:spMkLst>
            <pc:docMk/>
            <pc:sldMk cId="3983612520" sldId="267"/>
            <ac:spMk id="3" creationId="{87C89B7F-1A69-663E-D657-2309904E84BA}"/>
          </ac:spMkLst>
        </pc:spChg>
        <pc:spChg chg="del mod ord">
          <ac:chgData name="Nikola Baci" userId="473fddf6-354f-4a55-bb0c-489699c5b784" providerId="ADAL" clId="{955CBDAC-7F7E-42A5-B2A1-D806DB2DB19E}" dt="2025-11-20T15:35:06.169" v="5" actId="700"/>
          <ac:spMkLst>
            <pc:docMk/>
            <pc:sldMk cId="3983612520" sldId="267"/>
            <ac:spMk id="4" creationId="{26D46E62-7B52-166C-CE10-D56459C4553E}"/>
          </ac:spMkLst>
        </pc:spChg>
        <pc:spChg chg="del">
          <ac:chgData name="Nikola Baci" userId="473fddf6-354f-4a55-bb0c-489699c5b784" providerId="ADAL" clId="{955CBDAC-7F7E-42A5-B2A1-D806DB2DB19E}" dt="2025-11-20T15:35:06.169" v="5" actId="700"/>
          <ac:spMkLst>
            <pc:docMk/>
            <pc:sldMk cId="3983612520" sldId="267"/>
            <ac:spMk id="5" creationId="{BF4E6855-0F20-3054-3048-2B7920D1C751}"/>
          </ac:spMkLst>
        </pc:spChg>
        <pc:spChg chg="del">
          <ac:chgData name="Nikola Baci" userId="473fddf6-354f-4a55-bb0c-489699c5b784" providerId="ADAL" clId="{955CBDAC-7F7E-42A5-B2A1-D806DB2DB19E}" dt="2025-11-20T15:35:06.169" v="5" actId="700"/>
          <ac:spMkLst>
            <pc:docMk/>
            <pc:sldMk cId="3983612520" sldId="267"/>
            <ac:spMk id="6" creationId="{A5FDF15F-29B6-ABAB-563D-788C72EEFD4A}"/>
          </ac:spMkLst>
        </pc:spChg>
        <pc:spChg chg="add mod ord">
          <ac:chgData name="Nikola Baci" userId="473fddf6-354f-4a55-bb0c-489699c5b784" providerId="ADAL" clId="{955CBDAC-7F7E-42A5-B2A1-D806DB2DB19E}" dt="2025-11-20T15:44:33.907" v="79" actId="20577"/>
          <ac:spMkLst>
            <pc:docMk/>
            <pc:sldMk cId="3983612520" sldId="267"/>
            <ac:spMk id="7" creationId="{2D3C9ABE-9766-39B2-CD67-65AC0A099E46}"/>
          </ac:spMkLst>
        </pc:spChg>
        <pc:spChg chg="add mod ord">
          <ac:chgData name="Nikola Baci" userId="473fddf6-354f-4a55-bb0c-489699c5b784" providerId="ADAL" clId="{955CBDAC-7F7E-42A5-B2A1-D806DB2DB19E}" dt="2025-11-20T16:52:50.114" v="1225" actId="20577"/>
          <ac:spMkLst>
            <pc:docMk/>
            <pc:sldMk cId="3983612520" sldId="267"/>
            <ac:spMk id="8" creationId="{102657CC-D3C1-CC37-BE0E-C2F44F4F7593}"/>
          </ac:spMkLst>
        </pc:spChg>
      </pc:sldChg>
      <pc:sldChg chg="modSp new mod">
        <pc:chgData name="Nikola Baci" userId="473fddf6-354f-4a55-bb0c-489699c5b784" providerId="ADAL" clId="{955CBDAC-7F7E-42A5-B2A1-D806DB2DB19E}" dt="2025-11-20T16:20:14.328" v="626" actId="3626"/>
        <pc:sldMkLst>
          <pc:docMk/>
          <pc:sldMk cId="679093716" sldId="268"/>
        </pc:sldMkLst>
        <pc:spChg chg="mod">
          <ac:chgData name="Nikola Baci" userId="473fddf6-354f-4a55-bb0c-489699c5b784" providerId="ADAL" clId="{955CBDAC-7F7E-42A5-B2A1-D806DB2DB19E}" dt="2025-11-20T16:10:19.494" v="186" actId="20577"/>
          <ac:spMkLst>
            <pc:docMk/>
            <pc:sldMk cId="679093716" sldId="268"/>
            <ac:spMk id="2" creationId="{0C9125B3-53C2-539B-6287-F898E92A7376}"/>
          </ac:spMkLst>
        </pc:spChg>
        <pc:spChg chg="mod">
          <ac:chgData name="Nikola Baci" userId="473fddf6-354f-4a55-bb0c-489699c5b784" providerId="ADAL" clId="{955CBDAC-7F7E-42A5-B2A1-D806DB2DB19E}" dt="2025-11-20T16:20:14.328" v="626" actId="3626"/>
          <ac:spMkLst>
            <pc:docMk/>
            <pc:sldMk cId="679093716" sldId="268"/>
            <ac:spMk id="3" creationId="{7D4D8A1B-E026-7500-C4B1-CBCDEDD0F6B6}"/>
          </ac:spMkLst>
        </pc:spChg>
      </pc:sldChg>
      <pc:sldChg chg="modSp new mod">
        <pc:chgData name="Nikola Baci" userId="473fddf6-354f-4a55-bb0c-489699c5b784" providerId="ADAL" clId="{955CBDAC-7F7E-42A5-B2A1-D806DB2DB19E}" dt="2025-11-20T16:49:57.202" v="1154" actId="20577"/>
        <pc:sldMkLst>
          <pc:docMk/>
          <pc:sldMk cId="2498689274" sldId="269"/>
        </pc:sldMkLst>
        <pc:spChg chg="mod">
          <ac:chgData name="Nikola Baci" userId="473fddf6-354f-4a55-bb0c-489699c5b784" providerId="ADAL" clId="{955CBDAC-7F7E-42A5-B2A1-D806DB2DB19E}" dt="2025-11-20T16:20:55.043" v="666" actId="20577"/>
          <ac:spMkLst>
            <pc:docMk/>
            <pc:sldMk cId="2498689274" sldId="269"/>
            <ac:spMk id="2" creationId="{2BE082FA-AA2E-10E2-8617-7E41EFBEDD25}"/>
          </ac:spMkLst>
        </pc:spChg>
        <pc:spChg chg="mod">
          <ac:chgData name="Nikola Baci" userId="473fddf6-354f-4a55-bb0c-489699c5b784" providerId="ADAL" clId="{955CBDAC-7F7E-42A5-B2A1-D806DB2DB19E}" dt="2025-11-20T16:49:57.202" v="1154" actId="20577"/>
          <ac:spMkLst>
            <pc:docMk/>
            <pc:sldMk cId="2498689274" sldId="269"/>
            <ac:spMk id="3" creationId="{5EE8EC50-CC56-555B-EBCA-FDF57FC14D2C}"/>
          </ac:spMkLst>
        </pc:spChg>
      </pc:sldChg>
      <pc:sldChg chg="new del">
        <pc:chgData name="Nikola Baci" userId="473fddf6-354f-4a55-bb0c-489699c5b784" providerId="ADAL" clId="{955CBDAC-7F7E-42A5-B2A1-D806DB2DB19E}" dt="2025-11-20T17:02:30.149" v="1227" actId="47"/>
        <pc:sldMkLst>
          <pc:docMk/>
          <pc:sldMk cId="2144895503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5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2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826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96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26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70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17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6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5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8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FBE8-85E9-446F-9548-00448E19547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05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C46FBE8-85E9-446F-9548-00448E195472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56B4A44-2FC3-4AC2-B335-0E66A7ABE0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68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think/topics/rest-api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weathermap.org/api" TargetMode="External"/><Relationship Id="rId2" Type="http://schemas.openxmlformats.org/officeDocument/2006/relationships/hyperlink" Target="https://www.fbi.gov/wanted/api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s.google.com/workspace/calendar" TargetMode="External"/><Relationship Id="rId4" Type="http://schemas.openxmlformats.org/officeDocument/2006/relationships/hyperlink" Target="https://platform.openai.com/docs/overview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postman.com/what-is-an-api-endpoin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148E5-80DB-093E-EF21-6C355166B0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Dev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C6090-C1D8-5B75-6364-03B7EB340B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Nikola Baci</a:t>
            </a:r>
          </a:p>
        </p:txBody>
      </p:sp>
    </p:spTree>
    <p:extLst>
      <p:ext uri="{BB962C8B-B14F-4D97-AF65-F5344CB8AC3E}">
        <p14:creationId xmlns:p14="http://schemas.microsoft.com/office/powerpoint/2010/main" val="88650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4548B-E797-7218-1B3C-4148CFB4E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vs.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C0E31-EE10-8352-C047-251367674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API:</a:t>
            </a:r>
          </a:p>
          <a:p>
            <a:pPr lvl="1"/>
            <a:r>
              <a:rPr lang="en-US" dirty="0"/>
              <a:t>Application Programming Interface</a:t>
            </a:r>
          </a:p>
          <a:p>
            <a:pPr lvl="1"/>
            <a:r>
              <a:rPr lang="en-US" dirty="0"/>
              <a:t>The way your </a:t>
            </a:r>
            <a:r>
              <a:rPr lang="en-US" b="1" dirty="0"/>
              <a:t>code</a:t>
            </a:r>
            <a:r>
              <a:rPr lang="en-US" dirty="0"/>
              <a:t> can </a:t>
            </a:r>
            <a:r>
              <a:rPr lang="en-US" b="1" dirty="0"/>
              <a:t>ask</a:t>
            </a:r>
            <a:r>
              <a:rPr lang="en-US" dirty="0"/>
              <a:t> the application/library/service to do things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boundary</a:t>
            </a:r>
            <a:r>
              <a:rPr lang="en-US" dirty="0"/>
              <a:t> of the application/library through which requests go in and responses come out</a:t>
            </a:r>
          </a:p>
          <a:p>
            <a:r>
              <a:rPr lang="en-US" dirty="0"/>
              <a:t>Application/Library/Service</a:t>
            </a:r>
          </a:p>
          <a:p>
            <a:pPr lvl="1"/>
            <a:r>
              <a:rPr lang="en-US" dirty="0"/>
              <a:t>A blob of code that does things</a:t>
            </a:r>
          </a:p>
        </p:txBody>
      </p:sp>
    </p:spTree>
    <p:extLst>
      <p:ext uri="{BB962C8B-B14F-4D97-AF65-F5344CB8AC3E}">
        <p14:creationId xmlns:p14="http://schemas.microsoft.com/office/powerpoint/2010/main" val="391949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41582-C80B-56CD-7CF9-5532F0610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35662-7341-700F-35D3-B4324FE1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APIs vs. UIs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0168-CCD2-C754-A103-EC967B662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code to API as your user to the UI</a:t>
            </a:r>
          </a:p>
          <a:p>
            <a:r>
              <a:rPr lang="en-US" b="1" dirty="0"/>
              <a:t>Software libraries</a:t>
            </a:r>
            <a:r>
              <a:rPr lang="en-US" dirty="0"/>
              <a:t> intended for use by other code have APIs but no UIs</a:t>
            </a:r>
          </a:p>
          <a:p>
            <a:r>
              <a:rPr lang="en-US" b="1" dirty="0"/>
              <a:t>Applications</a:t>
            </a:r>
            <a:r>
              <a:rPr lang="en-US" dirty="0"/>
              <a:t> for use by humans often have UIs but no APIs</a:t>
            </a:r>
          </a:p>
          <a:p>
            <a:r>
              <a:rPr lang="en-US" dirty="0"/>
              <a:t>Many modern web applications have </a:t>
            </a:r>
            <a:r>
              <a:rPr lang="en-US" b="1" dirty="0"/>
              <a:t>both</a:t>
            </a:r>
            <a:r>
              <a:rPr lang="en-US" dirty="0"/>
              <a:t> </a:t>
            </a:r>
          </a:p>
          <a:p>
            <a:r>
              <a:rPr lang="en-US" b="1" dirty="0"/>
              <a:t>The Browser</a:t>
            </a:r>
          </a:p>
          <a:p>
            <a:pPr lvl="1"/>
            <a:r>
              <a:rPr lang="en-US" dirty="0"/>
              <a:t>has a UI that lets you interact with the document</a:t>
            </a:r>
          </a:p>
          <a:p>
            <a:pPr lvl="1"/>
            <a:r>
              <a:rPr lang="en-US" dirty="0"/>
              <a:t>has the </a:t>
            </a:r>
            <a:r>
              <a:rPr lang="en-US" b="1" dirty="0"/>
              <a:t>DOM API</a:t>
            </a:r>
            <a:r>
              <a:rPr lang="en-US" dirty="0"/>
              <a:t> that lets your code interact with the document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28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18DB7-8C6B-AAF7-0033-1BC869C18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API Aspects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3CBBD-D029-BD6C-CC7B-748BDBD98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model</a:t>
            </a:r>
          </a:p>
          <a:p>
            <a:pPr lvl="1"/>
            <a:r>
              <a:rPr lang="en-US" dirty="0"/>
              <a:t>what data does the API manipulate?</a:t>
            </a:r>
          </a:p>
          <a:p>
            <a:r>
              <a:rPr lang="en-US" dirty="0"/>
              <a:t>Methods</a:t>
            </a:r>
          </a:p>
          <a:p>
            <a:pPr lvl="1"/>
            <a:r>
              <a:rPr lang="en-US" dirty="0"/>
              <a:t>what can you ask it to do?</a:t>
            </a:r>
          </a:p>
          <a:p>
            <a:pPr lvl="1"/>
            <a:r>
              <a:rPr lang="en-US" dirty="0"/>
              <a:t>function names, arguments, return types </a:t>
            </a:r>
          </a:p>
          <a:p>
            <a:r>
              <a:rPr lang="en-US" dirty="0"/>
              <a:t>Syntax</a:t>
            </a:r>
          </a:p>
          <a:p>
            <a:pPr lvl="1"/>
            <a:r>
              <a:rPr lang="en-US" dirty="0"/>
              <a:t>In what language/format are the method invocations requested?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244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54080-9E58-93B4-BCED-3F7DE03B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DC468-B739-E643-342F-D4208447D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API for talking to </a:t>
            </a:r>
            <a:r>
              <a:rPr lang="en-US" b="1" dirty="0"/>
              <a:t>Web Servers</a:t>
            </a:r>
            <a:endParaRPr lang="en-US" dirty="0"/>
          </a:p>
          <a:p>
            <a:r>
              <a:rPr lang="en-US" dirty="0"/>
              <a:t>6 main methods, pretty much as originally spec'd by Tim Berners Lee</a:t>
            </a:r>
          </a:p>
          <a:p>
            <a:r>
              <a:rPr lang="en-US" dirty="0"/>
              <a:t>Head: POST: tell me about yourself</a:t>
            </a:r>
          </a:p>
          <a:p>
            <a:r>
              <a:rPr lang="en-US" dirty="0"/>
              <a:t>GET: retrieve a resource</a:t>
            </a:r>
          </a:p>
          <a:p>
            <a:r>
              <a:rPr lang="en-US" dirty="0"/>
              <a:t>upload a new resource</a:t>
            </a:r>
          </a:p>
          <a:p>
            <a:r>
              <a:rPr lang="en-US" dirty="0"/>
              <a:t>PUT: replace an existing resource</a:t>
            </a:r>
          </a:p>
          <a:p>
            <a:r>
              <a:rPr lang="en-US" dirty="0"/>
              <a:t>PATCH: modify a resource</a:t>
            </a:r>
          </a:p>
          <a:p>
            <a:r>
              <a:rPr lang="en-US" dirty="0"/>
              <a:t>DELETE: remove a resource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932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EDB374-0846-A19B-E4B4-D3FD99E4D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Serialization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2C1753-5CB2-04A7-2B93-9859C5458D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Network carries a stream of bytes/text</a:t>
            </a:r>
          </a:p>
          <a:p>
            <a:r>
              <a:rPr lang="en-US" dirty="0"/>
              <a:t>Each HTTP request is </a:t>
            </a:r>
            <a:r>
              <a:rPr lang="en-US" b="1" dirty="0"/>
              <a:t>serialized</a:t>
            </a:r>
            <a:r>
              <a:rPr lang="en-US" dirty="0"/>
              <a:t> into a big string with specific syntax</a:t>
            </a:r>
          </a:p>
          <a:p>
            <a:r>
              <a:rPr lang="en-US" dirty="0"/>
              <a:t>Web server receives and </a:t>
            </a:r>
            <a:r>
              <a:rPr lang="en-US" b="1" dirty="0"/>
              <a:t>deserializes</a:t>
            </a:r>
            <a:r>
              <a:rPr lang="en-US" dirty="0"/>
              <a:t> the string back into a structured request</a:t>
            </a:r>
          </a:p>
          <a:p>
            <a:r>
              <a:rPr lang="en-US" dirty="0"/>
              <a:t>Server then </a:t>
            </a:r>
            <a:r>
              <a:rPr lang="en-US" b="1" dirty="0"/>
              <a:t>serializes</a:t>
            </a:r>
            <a:r>
              <a:rPr lang="en-US" dirty="0"/>
              <a:t> response that returns to client</a:t>
            </a:r>
          </a:p>
          <a:p>
            <a:r>
              <a:rPr lang="en-US" dirty="0"/>
              <a:t>Which </a:t>
            </a:r>
            <a:r>
              <a:rPr lang="en-US" b="1" dirty="0"/>
              <a:t>deserializes</a:t>
            </a:r>
            <a:r>
              <a:rPr lang="en-US" dirty="0"/>
              <a:t> it into response data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10008-2403-3282-9F60-C7781587CC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POST /</a:t>
            </a:r>
            <a:r>
              <a:rPr lang="en-US" dirty="0" err="1"/>
              <a:t>echo?urlarg</a:t>
            </a:r>
            <a:r>
              <a:rPr lang="en-US" dirty="0"/>
              <a:t>=</a:t>
            </a:r>
            <a:r>
              <a:rPr lang="en-US" dirty="0" err="1"/>
              <a:t>newUser</a:t>
            </a:r>
            <a:r>
              <a:rPr lang="en-US" dirty="0"/>
              <a:t> HTTP/1.1</a:t>
            </a:r>
          </a:p>
          <a:p>
            <a:pPr marL="0" indent="0">
              <a:buNone/>
            </a:pPr>
            <a:r>
              <a:rPr lang="en-US" dirty="0"/>
              <a:t>Host: scooterlabs.com</a:t>
            </a:r>
          </a:p>
          <a:p>
            <a:pPr marL="0" indent="0">
              <a:buNone/>
            </a:pPr>
            <a:r>
              <a:rPr lang="en-US" dirty="0"/>
              <a:t>Connection: keep-alive</a:t>
            </a:r>
          </a:p>
          <a:p>
            <a:pPr marL="0" indent="0">
              <a:buNone/>
            </a:pPr>
            <a:r>
              <a:rPr lang="en-US" dirty="0"/>
              <a:t>Content-Length: 39</a:t>
            </a:r>
          </a:p>
          <a:p>
            <a:pPr marL="0" indent="0">
              <a:buNone/>
            </a:pPr>
            <a:r>
              <a:rPr lang="en-US" dirty="0"/>
              <a:t>Cache-Control: max-age=0</a:t>
            </a:r>
          </a:p>
          <a:p>
            <a:pPr marL="0" indent="0">
              <a:buNone/>
            </a:pPr>
            <a:r>
              <a:rPr lang="en-US" dirty="0"/>
              <a:t>Upgrade-Insecure-Requests: 1</a:t>
            </a:r>
          </a:p>
          <a:p>
            <a:pPr marL="0" indent="0">
              <a:buNone/>
            </a:pPr>
            <a:r>
              <a:rPr lang="en-US" dirty="0"/>
              <a:t>Origin: http://localhost</a:t>
            </a:r>
          </a:p>
          <a:p>
            <a:pPr marL="0" indent="0">
              <a:buNone/>
            </a:pPr>
            <a:r>
              <a:rPr lang="en-US" dirty="0"/>
              <a:t>Content-Type: application/x-www-form-</a:t>
            </a:r>
            <a:r>
              <a:rPr lang="en-US" dirty="0" err="1"/>
              <a:t>urlencoded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User-Agent: Mozilla/5.0 (Windows NT 10.0……</a:t>
            </a:r>
          </a:p>
          <a:p>
            <a:pPr marL="0" indent="0">
              <a:buNone/>
            </a:pPr>
            <a:r>
              <a:rPr lang="en-US" dirty="0"/>
              <a:t>Accept: text/</a:t>
            </a:r>
            <a:r>
              <a:rPr lang="en-US" dirty="0" err="1"/>
              <a:t>html,image</a:t>
            </a:r>
            <a:r>
              <a:rPr lang="en-US" dirty="0"/>
              <a:t>/</a:t>
            </a:r>
            <a:r>
              <a:rPr lang="en-US" dirty="0" err="1"/>
              <a:t>webp,img</a:t>
            </a:r>
            <a:r>
              <a:rPr lang="en-US" dirty="0"/>
              <a:t>/</a:t>
            </a:r>
            <a:r>
              <a:rPr lang="en-US" dirty="0" err="1"/>
              <a:t>apng</a:t>
            </a: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 err="1"/>
              <a:t>Referer</a:t>
            </a:r>
            <a:r>
              <a:rPr lang="en-US" dirty="0"/>
              <a:t>: http://localhost/lectures/apis/form.html</a:t>
            </a:r>
          </a:p>
          <a:p>
            <a:pPr marL="0" indent="0">
              <a:buNone/>
            </a:pPr>
            <a:r>
              <a:rPr lang="en-US" dirty="0"/>
              <a:t>Accept-Encoding: </a:t>
            </a:r>
            <a:r>
              <a:rPr lang="en-US" dirty="0" err="1"/>
              <a:t>gzip</a:t>
            </a:r>
            <a:r>
              <a:rPr lang="en-US" dirty="0"/>
              <a:t>, deflate</a:t>
            </a:r>
          </a:p>
          <a:p>
            <a:pPr marL="0" indent="0">
              <a:buNone/>
            </a:pPr>
            <a:r>
              <a:rPr lang="en-US" dirty="0"/>
              <a:t>Accept-Language: </a:t>
            </a:r>
            <a:r>
              <a:rPr lang="en-US" dirty="0" err="1"/>
              <a:t>en-US,en;q</a:t>
            </a:r>
            <a:r>
              <a:rPr lang="en-US" dirty="0"/>
              <a:t>=0.9,he;q=0.8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18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74AF-F842-A2C1-FCDF-1C17ACDD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Ugly Reality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31E8D-115E-3994-4E5F-48B604A8F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Developers are lazy</a:t>
            </a:r>
          </a:p>
          <a:p>
            <a:r>
              <a:rPr lang="en-US" dirty="0"/>
              <a:t>Can't be bothered with fine semantic distinctions of methods</a:t>
            </a:r>
          </a:p>
          <a:p>
            <a:r>
              <a:rPr lang="en-US" dirty="0"/>
              <a:t>Think only 2 really matter</a:t>
            </a:r>
          </a:p>
          <a:p>
            <a:r>
              <a:rPr lang="en-US" dirty="0"/>
              <a:t>Implement all actions through these</a:t>
            </a:r>
          </a:p>
          <a:p>
            <a:pPr lvl="1"/>
            <a:r>
              <a:rPr lang="en-US" b="1" dirty="0"/>
              <a:t>GET</a:t>
            </a:r>
          </a:p>
          <a:p>
            <a:pPr lvl="2"/>
            <a:r>
              <a:rPr lang="en-US" dirty="0"/>
              <a:t>arguments in query string (?) of </a:t>
            </a:r>
            <a:r>
              <a:rPr lang="en-US" dirty="0" err="1"/>
              <a:t>url</a:t>
            </a:r>
            <a:endParaRPr lang="en-US" dirty="0"/>
          </a:p>
          <a:p>
            <a:pPr lvl="2"/>
            <a:r>
              <a:rPr lang="en-US" dirty="0"/>
              <a:t>easy to serialize whole request into </a:t>
            </a:r>
            <a:r>
              <a:rPr lang="en-US" dirty="0" err="1"/>
              <a:t>url</a:t>
            </a:r>
            <a:r>
              <a:rPr lang="en-US" dirty="0"/>
              <a:t> string</a:t>
            </a:r>
          </a:p>
          <a:p>
            <a:pPr lvl="2"/>
            <a:r>
              <a:rPr lang="en-US" dirty="0"/>
              <a:t>great for a few short method parameters</a:t>
            </a:r>
          </a:p>
          <a:p>
            <a:pPr lvl="1"/>
            <a:r>
              <a:rPr lang="en-US" b="1" dirty="0"/>
              <a:t>POST</a:t>
            </a:r>
          </a:p>
          <a:p>
            <a:pPr lvl="2"/>
            <a:r>
              <a:rPr lang="en-US" dirty="0"/>
              <a:t>body can contain serialized arguments</a:t>
            </a:r>
          </a:p>
          <a:p>
            <a:pPr lvl="2"/>
            <a:r>
              <a:rPr lang="en-US" dirty="0"/>
              <a:t>need work to build the body correctly</a:t>
            </a:r>
          </a:p>
          <a:p>
            <a:pPr lvl="2"/>
            <a:r>
              <a:rPr lang="en-US" dirty="0"/>
              <a:t>necessary for many/big arguments or uploads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417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44F06-F876-BD3B-2102-69F78DA20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 APIs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EA5CA-C54C-288F-9AD7-A2DBB02D0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Originally, web sites were made to be visited by humans</a:t>
            </a:r>
          </a:p>
          <a:p>
            <a:r>
              <a:rPr lang="en-US" dirty="0"/>
              <a:t>Now code might want to interact with them too</a:t>
            </a:r>
          </a:p>
          <a:p>
            <a:r>
              <a:rPr lang="en-US" dirty="0"/>
              <a:t>Idea: have code fetch web pages and manipulate them? </a:t>
            </a:r>
          </a:p>
          <a:p>
            <a:r>
              <a:rPr lang="en-US" dirty="0"/>
              <a:t>HTTP API is generic---create, read, update, delete</a:t>
            </a:r>
          </a:p>
          <a:p>
            <a:r>
              <a:rPr lang="en-US" dirty="0"/>
              <a:t>Each application's API exposes app-</a:t>
            </a:r>
            <a:r>
              <a:rPr lang="en-US" b="1" dirty="0"/>
              <a:t>specific</a:t>
            </a:r>
            <a:r>
              <a:rPr lang="en-US" dirty="0"/>
              <a:t> methods </a:t>
            </a:r>
          </a:p>
          <a:p>
            <a:pPr lvl="1"/>
            <a:r>
              <a:rPr lang="en-US" dirty="0"/>
              <a:t>login, </a:t>
            </a:r>
            <a:r>
              <a:rPr lang="en-US" dirty="0" err="1"/>
              <a:t>updateMap</a:t>
            </a:r>
            <a:r>
              <a:rPr lang="en-US" dirty="0"/>
              <a:t>, </a:t>
            </a:r>
            <a:r>
              <a:rPr lang="en-US" dirty="0" err="1"/>
              <a:t>addToCart</a:t>
            </a:r>
            <a:r>
              <a:rPr lang="en-US" dirty="0"/>
              <a:t>… </a:t>
            </a:r>
          </a:p>
          <a:p>
            <a:r>
              <a:rPr lang="en-US" dirty="0"/>
              <a:t>Typically, one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b="1" dirty="0"/>
              <a:t>route</a:t>
            </a:r>
            <a:r>
              <a:rPr lang="en-US" dirty="0"/>
              <a:t> per method </a:t>
            </a:r>
          </a:p>
          <a:p>
            <a:pPr lvl="1"/>
            <a:r>
              <a:rPr lang="en-US" dirty="0"/>
              <a:t>e.g., http://api.github.com/user to get user info</a:t>
            </a:r>
          </a:p>
          <a:p>
            <a:r>
              <a:rPr lang="en-US" dirty="0"/>
              <a:t>Arguments in GET path or search parameters or POST body </a:t>
            </a:r>
          </a:p>
          <a:p>
            <a:pPr lvl="1"/>
            <a:r>
              <a:rPr lang="en-US" dirty="0"/>
              <a:t>/user/</a:t>
            </a:r>
            <a:r>
              <a:rPr lang="en-US" dirty="0" err="1"/>
              <a:t>baci</a:t>
            </a:r>
            <a:r>
              <a:rPr lang="en-US" dirty="0"/>
              <a:t> or /</a:t>
            </a:r>
            <a:r>
              <a:rPr lang="en-US" dirty="0" err="1"/>
              <a:t>user?baci</a:t>
            </a:r>
            <a:endParaRPr lang="en-US" dirty="0"/>
          </a:p>
          <a:p>
            <a:r>
              <a:rPr lang="en-US" dirty="0"/>
              <a:t>Response body contains result</a:t>
            </a:r>
          </a:p>
          <a:p>
            <a:r>
              <a:rPr lang="en-US" dirty="0"/>
              <a:t>HTTP status code may convey method exceptions</a:t>
            </a:r>
          </a:p>
          <a:p>
            <a:r>
              <a:rPr lang="en-US" dirty="0"/>
              <a:t>JSON is the dominant format for response </a:t>
            </a:r>
          </a:p>
          <a:p>
            <a:pPr lvl="1"/>
            <a:r>
              <a:rPr lang="en-US" dirty="0"/>
              <a:t>and sometimes for input arguments as well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60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9C062-38B9-00DB-FF6A-9FA169328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Encapsulation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7595B-DDD2-DE0A-03AC-3817191BE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 API call is </a:t>
            </a:r>
            <a:r>
              <a:rPr lang="en-US" b="1" dirty="0"/>
              <a:t>encapsulated</a:t>
            </a:r>
            <a:r>
              <a:rPr lang="en-US" dirty="0"/>
              <a:t> inside HTTP API call </a:t>
            </a:r>
          </a:p>
          <a:p>
            <a:pPr lvl="1"/>
            <a:r>
              <a:rPr lang="en-US" dirty="0"/>
              <a:t>Your code turns Application API call into data for HTTP call</a:t>
            </a:r>
          </a:p>
          <a:p>
            <a:pPr lvl="1"/>
            <a:r>
              <a:rPr lang="en-US" dirty="0"/>
              <a:t>"Prints" your </a:t>
            </a:r>
            <a:r>
              <a:rPr lang="en-US" dirty="0" err="1"/>
              <a:t>json</a:t>
            </a:r>
            <a:r>
              <a:rPr lang="en-US" dirty="0"/>
              <a:t> objects into strings that can be sent over HTTP</a:t>
            </a:r>
          </a:p>
          <a:p>
            <a:pPr lvl="2"/>
            <a:r>
              <a:rPr lang="en-US" dirty="0"/>
              <a:t>Browser turns HTTP API call into network traffic</a:t>
            </a:r>
          </a:p>
          <a:p>
            <a:pPr lvl="2"/>
            <a:r>
              <a:rPr lang="en-US" dirty="0"/>
              <a:t>Encodes and breaks up strings as bytes in network packets</a:t>
            </a:r>
          </a:p>
          <a:p>
            <a:pPr lvl="3"/>
            <a:r>
              <a:rPr lang="en-US" dirty="0"/>
              <a:t>HTTP invocation is encapsulated in TCP network traffic</a:t>
            </a:r>
          </a:p>
          <a:p>
            <a:pPr lvl="2"/>
            <a:r>
              <a:rPr lang="en-US" dirty="0"/>
              <a:t>Server computer receives network traffic</a:t>
            </a:r>
          </a:p>
          <a:p>
            <a:pPr lvl="1"/>
            <a:r>
              <a:rPr lang="en-US" dirty="0"/>
              <a:t>Server extract HTTP call, gives to web server</a:t>
            </a:r>
          </a:p>
          <a:p>
            <a:r>
              <a:rPr lang="en-US" dirty="0"/>
              <a:t>Web server extracts application API call, gives to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298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CAA5D-DA21-477F-6E3B-0CC222BAA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Wrapper Libraries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9734E-FA0B-0905-9563-83C37F68C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Your client code relies on server functions</a:t>
            </a:r>
          </a:p>
          <a:p>
            <a:r>
              <a:rPr lang="en-US" dirty="0"/>
              <a:t>Shouldn't be concerned with constructing http messages</a:t>
            </a:r>
          </a:p>
          <a:p>
            <a:r>
              <a:rPr lang="en-US" dirty="0"/>
              <a:t>Typically, create a </a:t>
            </a:r>
            <a:r>
              <a:rPr lang="en-US" b="1" dirty="0"/>
              <a:t>wrapper</a:t>
            </a:r>
            <a:r>
              <a:rPr lang="en-US" dirty="0"/>
              <a:t> library that provides JS methods for each web API method </a:t>
            </a:r>
          </a:p>
          <a:p>
            <a:pPr lvl="1"/>
            <a:r>
              <a:rPr lang="en-US" dirty="0"/>
              <a:t>your client code calls the wrapper</a:t>
            </a:r>
          </a:p>
          <a:p>
            <a:pPr lvl="1"/>
            <a:r>
              <a:rPr lang="en-US" dirty="0"/>
              <a:t>wrapper </a:t>
            </a:r>
          </a:p>
          <a:p>
            <a:pPr lvl="2"/>
            <a:r>
              <a:rPr lang="en-US" dirty="0"/>
              <a:t>accepts arguments</a:t>
            </a:r>
          </a:p>
          <a:p>
            <a:pPr lvl="2"/>
            <a:r>
              <a:rPr lang="en-US" dirty="0"/>
              <a:t>generates and sends HTTP request</a:t>
            </a:r>
          </a:p>
          <a:p>
            <a:pPr lvl="2"/>
            <a:r>
              <a:rPr lang="en-US" dirty="0"/>
              <a:t>receives and unpacks HTTP response</a:t>
            </a:r>
          </a:p>
          <a:p>
            <a:pPr lvl="2"/>
            <a:r>
              <a:rPr lang="en-US" dirty="0"/>
              <a:t>returns </a:t>
            </a:r>
            <a:r>
              <a:rPr lang="en-US" dirty="0" err="1"/>
              <a:t>json</a:t>
            </a:r>
            <a:r>
              <a:rPr lang="en-US" dirty="0"/>
              <a:t> to your client code</a:t>
            </a:r>
          </a:p>
          <a:p>
            <a:r>
              <a:rPr lang="en-US" dirty="0"/>
              <a:t>Since wrappers rely on (async) HTTP, wrapper methods are often async </a:t>
            </a:r>
          </a:p>
        </p:txBody>
      </p:sp>
    </p:spTree>
    <p:extLst>
      <p:ext uri="{BB962C8B-B14F-4D97-AF65-F5344CB8AC3E}">
        <p14:creationId xmlns:p14="http://schemas.microsoft.com/office/powerpoint/2010/main" val="3760967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3C4D6B-E03E-3886-4A8C-2B231C72B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RESTful APIs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CAEA77-F044-BACC-E9D1-3B474F950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E21C80-DFC2-B482-1728-56429B2708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 many traditional services, server remembers state of </a:t>
            </a:r>
            <a:r>
              <a:rPr lang="en-US" b="1" dirty="0"/>
              <a:t>session</a:t>
            </a:r>
            <a:r>
              <a:rPr lang="en-US" dirty="0"/>
              <a:t> with client </a:t>
            </a:r>
          </a:p>
          <a:p>
            <a:pPr lvl="1"/>
            <a:r>
              <a:rPr lang="en-US" dirty="0"/>
              <a:t>who the user is</a:t>
            </a:r>
          </a:p>
          <a:p>
            <a:pPr lvl="1"/>
            <a:r>
              <a:rPr lang="en-US" dirty="0"/>
              <a:t>how far they've gotten in the activity</a:t>
            </a:r>
          </a:p>
          <a:p>
            <a:pPr lvl="1"/>
            <a:r>
              <a:rPr lang="en-US" dirty="0"/>
              <a:t>what comes next</a:t>
            </a:r>
          </a:p>
          <a:p>
            <a:r>
              <a:rPr lang="en-US" dirty="0"/>
              <a:t>Lots of this information is </a:t>
            </a:r>
            <a:r>
              <a:rPr lang="en-US" b="1" dirty="0"/>
              <a:t>ephemeral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irrelevant once user closes the page</a:t>
            </a:r>
          </a:p>
          <a:p>
            <a:r>
              <a:rPr lang="en-US" dirty="0"/>
              <a:t>Significant burden on server to maintain </a:t>
            </a:r>
          </a:p>
          <a:p>
            <a:pPr lvl="1"/>
            <a:r>
              <a:rPr lang="en-US" dirty="0"/>
              <a:t>server doesn't know user has left</a:t>
            </a:r>
          </a:p>
          <a:p>
            <a:pPr lvl="1"/>
            <a:r>
              <a:rPr lang="en-US" dirty="0"/>
              <a:t>must keep state </a:t>
            </a:r>
            <a:r>
              <a:rPr lang="en-US" b="1" dirty="0"/>
              <a:t>forever</a:t>
            </a:r>
            <a:r>
              <a:rPr lang="en-US" dirty="0"/>
              <a:t> for every user who </a:t>
            </a:r>
            <a:r>
              <a:rPr lang="en-US" b="1" dirty="0"/>
              <a:t>ever</a:t>
            </a:r>
            <a:r>
              <a:rPr lang="en-US" dirty="0"/>
              <a:t> visited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84A5B2C-40E8-EBAF-054D-F694B46C2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solution</a:t>
            </a:r>
          </a:p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80803E5-65B1-38C7-7C0B-51381B454A4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err="1"/>
              <a:t>RE</a:t>
            </a:r>
            <a:r>
              <a:rPr lang="en-US" dirty="0" err="1"/>
              <a:t>presentational</a:t>
            </a:r>
            <a:r>
              <a:rPr lang="en-US" dirty="0"/>
              <a:t> </a:t>
            </a:r>
            <a:r>
              <a:rPr lang="en-US" b="1" dirty="0"/>
              <a:t>S</a:t>
            </a:r>
            <a:r>
              <a:rPr lang="en-US" dirty="0"/>
              <a:t>tate </a:t>
            </a:r>
            <a:r>
              <a:rPr lang="en-US" b="1" dirty="0"/>
              <a:t>T</a:t>
            </a:r>
            <a:r>
              <a:rPr lang="en-US" dirty="0"/>
              <a:t>ransfer</a:t>
            </a:r>
          </a:p>
          <a:p>
            <a:r>
              <a:rPr lang="en-US" dirty="0"/>
              <a:t>Keep all ephemeral state in the client</a:t>
            </a:r>
          </a:p>
          <a:p>
            <a:r>
              <a:rPr lang="en-US" dirty="0"/>
              <a:t>Every method call must include all the state the server needs to provide the method</a:t>
            </a:r>
          </a:p>
          <a:p>
            <a:r>
              <a:rPr lang="en-US" dirty="0"/>
              <a:t>Server still holds </a:t>
            </a:r>
            <a:r>
              <a:rPr lang="en-US" b="1" dirty="0"/>
              <a:t>persistent</a:t>
            </a:r>
            <a:r>
              <a:rPr lang="en-US" dirty="0"/>
              <a:t> state </a:t>
            </a:r>
          </a:p>
          <a:p>
            <a:pPr lvl="1"/>
            <a:r>
              <a:rPr lang="en-US" dirty="0"/>
              <a:t>your file uploads</a:t>
            </a:r>
          </a:p>
          <a:p>
            <a:pPr lvl="1"/>
            <a:r>
              <a:rPr lang="en-US" dirty="0"/>
              <a:t>your purchases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817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D3C9ABE-9766-39B2-CD67-65AC0A099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Architecture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02657CC-D3C1-CC37-BE0E-C2F44F4F7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Uniform interface: a</a:t>
            </a:r>
            <a:r>
              <a:rPr lang="en-US" dirty="0"/>
              <a:t>ll API requests for the same resource should look the same, no matter where the request comes from.</a:t>
            </a:r>
          </a:p>
          <a:p>
            <a:r>
              <a:rPr lang="en-US" b="1" dirty="0"/>
              <a:t>Client-server decoupling: </a:t>
            </a:r>
            <a:r>
              <a:rPr lang="en-US" dirty="0"/>
              <a:t>client and server applications must be completely independent of each other</a:t>
            </a:r>
          </a:p>
          <a:p>
            <a:r>
              <a:rPr lang="en-US" b="1" dirty="0"/>
              <a:t>Statelessness: </a:t>
            </a:r>
            <a:r>
              <a:rPr lang="en-US" dirty="0"/>
              <a:t>meaning that each request needs to include all the information necessary for processing it</a:t>
            </a:r>
          </a:p>
          <a:p>
            <a:r>
              <a:rPr lang="en-US" b="1" dirty="0" err="1"/>
              <a:t>Cacheability</a:t>
            </a:r>
            <a:r>
              <a:rPr lang="en-US" b="1" dirty="0"/>
              <a:t>: </a:t>
            </a:r>
            <a:r>
              <a:rPr lang="en-US" dirty="0"/>
              <a:t>resources should be cacheable on the client or server side. </a:t>
            </a:r>
          </a:p>
          <a:p>
            <a:r>
              <a:rPr lang="en-US" b="1" dirty="0"/>
              <a:t>Layered system architecture: </a:t>
            </a:r>
            <a:r>
              <a:rPr lang="en-US" dirty="0"/>
              <a:t>neither the client nor the server can tell whether it communicates with the end application or an intermediary.</a:t>
            </a:r>
          </a:p>
          <a:p>
            <a:r>
              <a:rPr lang="en-US" dirty="0">
                <a:hlinkClick r:id="rId2"/>
              </a:rPr>
              <a:t>Restful API architecture</a:t>
            </a:r>
            <a:r>
              <a:rPr lang="en-US" dirty="0"/>
              <a:t> described 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612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25B3-53C2-539B-6287-F898E92A7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Party Rest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D8A1B-E026-7500-C4B1-CBCDEDD0F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 developers or companies develop, maintain and release APIs</a:t>
            </a:r>
          </a:p>
          <a:p>
            <a:r>
              <a:rPr lang="en-US" dirty="0"/>
              <a:t>APIs could be </a:t>
            </a:r>
          </a:p>
          <a:p>
            <a:pPr lvl="1"/>
            <a:r>
              <a:rPr lang="en-US" dirty="0"/>
              <a:t>Private: used internally by teams within a company</a:t>
            </a:r>
          </a:p>
          <a:p>
            <a:pPr lvl="1"/>
            <a:r>
              <a:rPr lang="en-US" dirty="0"/>
              <a:t>Public: used by anyone (free or paid)</a:t>
            </a:r>
          </a:p>
          <a:p>
            <a:r>
              <a:rPr lang="en-US" dirty="0"/>
              <a:t>APIs documentation needs to be inspected to understand how to use the API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>
                <a:hlinkClick r:id="rId2"/>
              </a:rPr>
              <a:t>FBI Wanted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OpenWeatherMap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OpenAI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Google Calendar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093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82FA-AA2E-10E2-8617-7E41EFBED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8EC50-CC56-555B-EBCA-FDF57FC14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Public APIs are developed, maintained and released to benefit other programmers or companies</a:t>
            </a:r>
          </a:p>
          <a:p>
            <a:r>
              <a:rPr lang="en-US" dirty="0"/>
              <a:t>They could be free or paid (with a free tier)</a:t>
            </a:r>
          </a:p>
          <a:p>
            <a:r>
              <a:rPr lang="en-US" dirty="0"/>
              <a:t>Three main types:</a:t>
            </a:r>
          </a:p>
          <a:p>
            <a:pPr lvl="1"/>
            <a:r>
              <a:rPr lang="en-US" dirty="0"/>
              <a:t>No API key: no authentication, email, credit card requires (FBI Wanted)</a:t>
            </a:r>
          </a:p>
          <a:p>
            <a:pPr lvl="1"/>
            <a:r>
              <a:rPr lang="en-US" dirty="0"/>
              <a:t>API key: authentication required (OpenWeatherMap)</a:t>
            </a:r>
          </a:p>
          <a:p>
            <a:pPr lvl="1"/>
            <a:r>
              <a:rPr lang="en-US" dirty="0"/>
              <a:t>OAuth: authentication and user authorization required (Google Calendar)</a:t>
            </a:r>
          </a:p>
          <a:p>
            <a:r>
              <a:rPr lang="en-US" dirty="0">
                <a:hlinkClick r:id="rId2"/>
              </a:rPr>
              <a:t>API anatomy described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689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244</TotalTime>
  <Words>1038</Words>
  <Application>Microsoft Office PowerPoint</Application>
  <PresentationFormat>Widescreen</PresentationFormat>
  <Paragraphs>143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Web Dev</vt:lpstr>
      <vt:lpstr>API vs. Application</vt:lpstr>
      <vt:lpstr>APIs vs. UIs</vt:lpstr>
      <vt:lpstr>API Aspects</vt:lpstr>
      <vt:lpstr>HTTP</vt:lpstr>
      <vt:lpstr>Serialization</vt:lpstr>
      <vt:lpstr>The Ugly Reality </vt:lpstr>
      <vt:lpstr>Web APIs</vt:lpstr>
      <vt:lpstr>Encapsulation</vt:lpstr>
      <vt:lpstr>Wrapper Libraries</vt:lpstr>
      <vt:lpstr>RESTful APIs</vt:lpstr>
      <vt:lpstr>REST Architecture</vt:lpstr>
      <vt:lpstr>Third Party Rest APIs</vt:lpstr>
      <vt:lpstr>Public APIs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 Baci</dc:creator>
  <cp:lastModifiedBy>Nikola Baci</cp:lastModifiedBy>
  <cp:revision>1</cp:revision>
  <dcterms:created xsi:type="dcterms:W3CDTF">2025-11-20T01:16:51Z</dcterms:created>
  <dcterms:modified xsi:type="dcterms:W3CDTF">2025-11-20T17:02:32Z</dcterms:modified>
</cp:coreProperties>
</file>