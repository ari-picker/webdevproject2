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1" d="100"/>
          <a:sy n="101" d="100"/>
        </p:scale>
        <p:origin x="183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37161" cy="13716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97E8E-54D9-4838-99C2-CA3920E227A1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D5F54-43B9-4C9B-B7EC-0A0B581F6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A91C-7B33-39DF-3E5D-E0860E375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DBEC5-BA50-04E1-7CD2-493F9DE1B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50A04-CD10-A4BC-B6E1-449C9838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523D4-F178-9FCC-7C6D-0080BEA3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5D934-C315-D2E2-3BFF-2EE43453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1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3457-769A-7373-20E5-EA62FAE2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F412C-FFE1-6EE4-6B57-C2892A76D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73ED-140B-1426-B0E2-47CE7B22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2FFE7-D571-E8F3-B64F-900654C8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7AE5-9F96-4A67-16C8-095610CB4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59B5D-7B8C-E5B7-0E67-BCFB5CD3F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F3AEA-A56E-0A26-AB1A-0F071D77E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2EC55-A8F1-7CBE-4ADB-FC2B4370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58FEC-B222-9CFA-2615-CDF277C2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5A9A7-EA15-9774-AFA9-AE948A7FA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83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BD36-3851-2534-4111-E7EBF07C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442F9-9423-B84D-89F8-FD11E5BBD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C9037-4C65-3A0D-E6FD-AA59D8679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96CB37-668C-D30D-15C7-81D09E24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6F6F3-0E10-19F0-A83D-020012A5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D5BD6-91EE-3828-6D5D-3F2C5BC4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5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4043-6CD4-A21A-8B05-2D63092B1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CEFFA-6AF1-D9A5-D7C7-1E2C8172A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7525DB-9901-EF23-54FE-47D04161A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0E6C0-78A1-881A-75EC-1915811AB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A7450-955C-A85F-F8A4-5559A6C95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B9D76-B441-9EEE-A2CA-8BFC23B8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81D361-47ED-ADC5-BFE8-B366CC45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0F0289-228B-5630-1CCA-C65E062C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9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6CD4E-53FB-359A-01E4-82494F8AE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42E3A-B099-7EC1-CECE-4F0AE62B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942DD-94FA-64AE-C145-F4C793D2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112CE-2B60-35F3-2A49-2F197C2D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29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484135-D17A-CE12-AA75-AAFBACA2F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8E7CEF-2755-42F5-B821-8F474445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4E272-6DD9-1E38-ABCD-6FFB360D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52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839E-2BC4-78F8-CF27-135A327B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0251-616B-C04D-2D99-56D18B17B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C5DD3-CB2E-B6F5-6379-5395CAA5B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38DA3-7989-E50C-57FF-EEAFB5EE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61913-75BD-8519-F835-741D214A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2A922-4969-D97D-F404-3A68DB51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41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4D98-1D5D-45C2-7001-E8EE7685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BA8314-F02A-FA07-1204-DE6B17D7C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DF2BF-F03C-A113-0FF0-D75E345ED5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F4A24-8CD8-6B38-B905-08D4EA33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59FFB-BF91-C14A-A966-7547EE07B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87B24-85E0-1E3D-3562-39B70C0A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62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1189-506D-6096-C277-CB29009C1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ED110-CEC0-646D-883F-2ABC2C658A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0241E-D288-7DEA-DE85-A2568C1E3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BE689-08FA-2D12-32AA-7E5F6361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96B4A-A3B1-1127-0AAB-D67367204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0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1CCE07-9194-6642-60FB-F72DEE1DD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1E8DB7-4EF2-6ED5-7AF4-3C9A74AEF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B16E1-B4A2-7E97-9E32-3A5EEEA2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B7F8C-2977-E0D5-96A8-D8B66916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FD8D4-BCA2-F002-2B09-BD2968B6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2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6C7D-4652-A1BE-7753-67CC5BD29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BB6E38-C721-B14C-19CD-39F40A393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5124-A8B2-D023-3243-78322774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394A7-CEA5-262E-16C9-4002E7AB0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6254E-EC4B-1A06-429A-998C8381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34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8B23-4C5A-E2CC-570C-DA846FF7D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F2F0B-7057-4180-2CA2-6B8385BF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925C6-D6E3-4A5E-7542-2E2DEFE8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7A094-BBF5-5D7F-8CBB-4A224319C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70E9B-9F46-55C6-386E-6F36B77E2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42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D415-2E6A-BF91-784D-2932401E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52525-8574-DB76-9317-A5E70038B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406DF-ACD0-0FB8-DC1C-E73A237F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D6A50-2402-FC01-2B3E-181494B6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DD2BE-655B-4925-2F8F-A217FDEA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46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C157-7FE8-8758-6EE9-D969D2BC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89B06-5CE6-8D70-47D7-0BF69B332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FB4C7-E1B5-72AB-E51D-B48DC2C8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CC130-059C-400A-4293-6BFCDD5C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23FC-D624-587D-5A29-3D1BA3327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36FE0-952A-8720-8F79-FE953128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63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234C-BE04-E0D5-4B9F-3CBDB658C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53566-BB1F-9774-73EB-F8BB0E0CF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81E10-C95E-9890-2625-5D273B439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E44C0-18DA-9471-FFE2-720B9E75F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1C173-A1EB-FEED-03FF-3A844C5851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D4E637-1939-FEB5-3D9C-37743933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EF853-E189-128C-028B-905A52746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6BEAD5-B7A9-2E36-A963-1775DC5D3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6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DE85B-F05E-660A-388F-505470365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442AAB-3544-A86E-357A-F2520583C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2D336-4038-3A3A-12B9-42D591B9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0416A-336D-E1BE-A3A3-B1EE3848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11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13B87-54C7-D99E-81D7-132E513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1FD63D-6043-656B-657F-526F372AE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9AE4C-FF96-4B6C-8A43-C72CD00B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3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5FC6-C900-7C6D-2E57-65E5272F2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838-3679-641B-42A9-D5D15820B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DBCF1-D868-2227-6042-583A21A2D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C4760-FEBC-A79B-0016-CD5667040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3436DC-BCD8-5C01-5F7A-9F5E7D702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E4B0C5-04D4-0FA0-D9C2-781020EE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518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62E3-E446-6683-C852-C39EAC57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6E9E7D-2372-E259-DC6C-68A2C8515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88A18-8CC8-635C-277E-7F4043FB7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377E8-07FB-67DF-654F-71C10977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ADA53-1132-8FAF-3B87-0E6E8A21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20D54-27DF-328E-F669-DAC7FB35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760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34AC-0BBD-599C-A282-89347E68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E6DC0-6E71-EB90-6BAD-7C38AF8C1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DEC91-728A-0A9A-9FB1-7DA39D77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BDD4A-C0C5-1444-C9CB-BC66E9BED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04921-6539-195D-BB47-3824C23C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725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F9147-1DAD-616B-7E4E-2F514FA19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94AD4-4514-1002-1AB2-38AAC3F75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58C59-58F4-65E1-49B6-222A434B8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66E4-4BFE-F3FA-FE3A-6A8C0796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72C5C-896B-3E18-BDEC-F645B229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96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ECB6-4303-BD3C-2508-64B79CAC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13D1E-7E47-B8C2-A4B6-E9ED3C93C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A615-98E3-E360-063F-43FBCD28C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BB9D9-658B-4236-B589-0C31CFC544F4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7F63-2930-29C4-A055-B6036A40F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FD834-41C3-00FE-5F33-72399E28E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E6E1A4-E0BF-46DF-A57C-78E2BAC102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4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ED95C-4E7F-E2A8-AE96-445EB620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055E4-2524-BA9A-ED0B-9C3CB3AA8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5C39C-F36E-ACA9-434D-1CF43B7A98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A84B2-7580-4D8F-98DE-2B020D9878ED}" type="datetimeFigureOut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9B57B-53F4-EB03-D483-10390F90B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118D6-671C-DFD6-7B5E-47060CA6B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54CFF-959B-4075-A597-6F39897F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481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expressjs.com/en/5x/api.html#res.app" TargetMode="Externa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DA067-1E9A-4220-E61F-81C9356678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WebDev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E1E830-8539-8A39-8901-7969E54AB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Nikola Baci</a:t>
            </a:r>
          </a:p>
        </p:txBody>
      </p:sp>
    </p:spTree>
    <p:extLst>
      <p:ext uri="{BB962C8B-B14F-4D97-AF65-F5344CB8AC3E}">
        <p14:creationId xmlns:p14="http://schemas.microsoft.com/office/powerpoint/2010/main" val="111845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BCCEB-34AF-5A17-D633-D91F25E1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ExpressJS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3C682-02FF-974F-9EE6-B2AD263CC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 is a fast, unopinionated, minimalistic web framework for NodeJS and JavaScript applications and APIs</a:t>
            </a:r>
          </a:p>
          <a:p>
            <a:pPr lvl="1"/>
            <a:r>
              <a:rPr lang="en-US" dirty="0"/>
              <a:t>Unopinionated means that it does not matter how you structure your project</a:t>
            </a:r>
          </a:p>
          <a:p>
            <a:pPr lvl="1"/>
            <a:r>
              <a:rPr lang="en-US" dirty="0"/>
              <a:t>Minimalistic means that it only includes the necessary libraries and dependencies to make your project work</a:t>
            </a:r>
          </a:p>
          <a:p>
            <a:r>
              <a:rPr lang="en-US" dirty="0"/>
              <a:t>Express needs to be installed via </a:t>
            </a:r>
            <a:r>
              <a:rPr lang="en-US" dirty="0" err="1"/>
              <a:t>npm</a:t>
            </a:r>
            <a:endParaRPr lang="en-US" dirty="0"/>
          </a:p>
          <a:p>
            <a:pPr lvl="1"/>
            <a:r>
              <a:rPr lang="en-US" dirty="0" err="1"/>
              <a:t>npm</a:t>
            </a:r>
            <a:r>
              <a:rPr lang="en-US" dirty="0"/>
              <a:t> is a library that maintains and distributes modules created by other developers for different purposes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comes bundled with your NodeJS download</a:t>
            </a:r>
          </a:p>
          <a:p>
            <a:pPr lvl="1"/>
            <a:r>
              <a:rPr lang="en-US" dirty="0"/>
              <a:t>to install a package with </a:t>
            </a:r>
            <a:r>
              <a:rPr lang="en-US" dirty="0" err="1"/>
              <a:t>npm</a:t>
            </a:r>
            <a:r>
              <a:rPr lang="en-US" dirty="0"/>
              <a:t> you write: </a:t>
            </a:r>
            <a:r>
              <a:rPr lang="en-US" dirty="0" err="1"/>
              <a:t>npm</a:t>
            </a:r>
            <a:r>
              <a:rPr lang="en-US" dirty="0"/>
              <a:t> install </a:t>
            </a:r>
            <a:r>
              <a:rPr lang="en-US" dirty="0" err="1"/>
              <a:t>package_name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235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D7983-81C1-2E9B-5D6E-5E51118F4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ExpressJS</a:t>
            </a:r>
            <a:r>
              <a:rPr lang="en-US" dirty="0"/>
              <a:t>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8B6C5-FD8F-47B2-16C3-4916E40C1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ways to set up an </a:t>
            </a:r>
            <a:r>
              <a:rPr lang="en-US" dirty="0" err="1"/>
              <a:t>ExpressJS</a:t>
            </a:r>
            <a:r>
              <a:rPr lang="en-US" dirty="0"/>
              <a:t> server:</a:t>
            </a:r>
          </a:p>
          <a:p>
            <a:pPr lvl="1"/>
            <a:r>
              <a:rPr lang="en-US" dirty="0"/>
              <a:t>Simply install express via </a:t>
            </a:r>
            <a:r>
              <a:rPr lang="en-US" dirty="0" err="1"/>
              <a:t>npm</a:t>
            </a:r>
            <a:r>
              <a:rPr lang="en-US" dirty="0"/>
              <a:t> (see 01_why_express zip file)</a:t>
            </a:r>
          </a:p>
          <a:p>
            <a:pPr lvl="1"/>
            <a:r>
              <a:rPr lang="en-US" dirty="0"/>
              <a:t>Using express generator (see 02_express_generator zip file)</a:t>
            </a:r>
          </a:p>
          <a:p>
            <a:pPr lvl="2"/>
            <a:r>
              <a:rPr lang="en-US" dirty="0"/>
              <a:t>This creates a skeleton project outline with server setup and folders indented for special use cases (note you can change those folders if you want)</a:t>
            </a:r>
          </a:p>
          <a:p>
            <a:pPr lvl="2"/>
            <a:r>
              <a:rPr lang="en-US" dirty="0"/>
              <a:t>This is the setup we will use in class</a:t>
            </a:r>
          </a:p>
        </p:txBody>
      </p:sp>
    </p:spTree>
    <p:extLst>
      <p:ext uri="{BB962C8B-B14F-4D97-AF65-F5344CB8AC3E}">
        <p14:creationId xmlns:p14="http://schemas.microsoft.com/office/powerpoint/2010/main" val="70966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5A3B-99CA-07EF-B36A-63B570FD4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Generator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89CFA-0A5B-25C6-0A0D-8CAB59C82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913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bin folder contains only 1 file (www) which does the NodeJS server setup</a:t>
            </a:r>
          </a:p>
          <a:p>
            <a:r>
              <a:rPr lang="en-US" dirty="0"/>
              <a:t>The </a:t>
            </a:r>
            <a:r>
              <a:rPr lang="en-US" dirty="0" err="1"/>
              <a:t>nodes_modules</a:t>
            </a:r>
            <a:r>
              <a:rPr lang="en-US" dirty="0"/>
              <a:t> folder stores all the project dependencies code</a:t>
            </a:r>
          </a:p>
          <a:p>
            <a:r>
              <a:rPr lang="en-US" dirty="0"/>
              <a:t>The public folder has three subfolders intended to store images, frontend </a:t>
            </a:r>
            <a:r>
              <a:rPr lang="en-US" dirty="0" err="1"/>
              <a:t>javascript</a:t>
            </a:r>
            <a:r>
              <a:rPr lang="en-US" dirty="0"/>
              <a:t> and stylesheet.</a:t>
            </a:r>
          </a:p>
          <a:p>
            <a:pPr lvl="1"/>
            <a:r>
              <a:rPr lang="en-US" dirty="0"/>
              <a:t>Those are static files that need to be sent over for the website to be properly displayed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C4B45-F025-E573-B93F-6B6A35883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913" y="2071888"/>
            <a:ext cx="3834129" cy="38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0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B241-A333-2F15-D1A5-0EBD61C71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45C1A-AB3E-9266-4A56-F6A37B3F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Generator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95FE6-EA6A-4B35-732C-488CAA82A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9137" cy="4351338"/>
          </a:xfrm>
        </p:spPr>
        <p:txBody>
          <a:bodyPr>
            <a:normAutofit/>
          </a:bodyPr>
          <a:lstStyle/>
          <a:p>
            <a:r>
              <a:rPr lang="en-US" dirty="0"/>
              <a:t>The routes folder stores </a:t>
            </a:r>
            <a:r>
              <a:rPr lang="en-US" dirty="0" err="1"/>
              <a:t>javascript</a:t>
            </a:r>
            <a:r>
              <a:rPr lang="en-US" dirty="0"/>
              <a:t> files that modularize the server responsibilities</a:t>
            </a:r>
          </a:p>
          <a:p>
            <a:r>
              <a:rPr lang="en-US" dirty="0"/>
              <a:t>By default there are 2 routers included:</a:t>
            </a:r>
          </a:p>
          <a:p>
            <a:pPr lvl="1"/>
            <a:r>
              <a:rPr lang="en-US" dirty="0"/>
              <a:t>user.js which is going to handle all </a:t>
            </a:r>
            <a:r>
              <a:rPr lang="en-US" dirty="0" err="1"/>
              <a:t>urls</a:t>
            </a:r>
            <a:r>
              <a:rPr lang="en-US" dirty="0"/>
              <a:t> that start with /user/…</a:t>
            </a:r>
          </a:p>
          <a:p>
            <a:pPr lvl="1"/>
            <a:r>
              <a:rPr lang="en-US" dirty="0"/>
              <a:t>index.js which is going to handle all </a:t>
            </a:r>
            <a:r>
              <a:rPr lang="en-US" dirty="0" err="1"/>
              <a:t>urls</a:t>
            </a:r>
            <a:r>
              <a:rPr lang="en-US" dirty="0"/>
              <a:t> that are not caught by user.js</a:t>
            </a:r>
          </a:p>
          <a:p>
            <a:pPr lvl="2"/>
            <a:r>
              <a:rPr lang="en-US" dirty="0"/>
              <a:t>This of index.js acting like else statements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E50CE-3B98-85D7-2783-2EBA55D1F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913" y="2071888"/>
            <a:ext cx="3834129" cy="38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2D5BF-A4C4-8120-4329-61B60EC15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7752A-8E4E-B1F0-A27A-6CD94C54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 Generator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DCEE3-5B8B-BCC9-09B8-F5A42ADA7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9137" cy="4351338"/>
          </a:xfrm>
        </p:spPr>
        <p:txBody>
          <a:bodyPr>
            <a:normAutofit/>
          </a:bodyPr>
          <a:lstStyle/>
          <a:p>
            <a:r>
              <a:rPr lang="en-US" dirty="0"/>
              <a:t>The views folder stores all </a:t>
            </a:r>
            <a:r>
              <a:rPr lang="en-US" dirty="0" err="1"/>
              <a:t>ejs</a:t>
            </a:r>
            <a:r>
              <a:rPr lang="en-US" dirty="0"/>
              <a:t> files (dynamic html)</a:t>
            </a:r>
          </a:p>
          <a:p>
            <a:r>
              <a:rPr lang="en-US" dirty="0"/>
              <a:t>The app.js file further configures the express server </a:t>
            </a:r>
          </a:p>
          <a:p>
            <a:r>
              <a:rPr lang="en-US" dirty="0"/>
              <a:t>The </a:t>
            </a:r>
            <a:r>
              <a:rPr lang="en-US" dirty="0" err="1"/>
              <a:t>package.json</a:t>
            </a:r>
            <a:r>
              <a:rPr lang="en-US" dirty="0"/>
              <a:t> lists the project dependencies, scripts and metadata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A0E19-24E8-300C-AFBA-8049E0BEF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913" y="2071888"/>
            <a:ext cx="3834129" cy="385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7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0A617-F03C-0D41-7900-82012396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E1D5E-35BB-4699-02DE-F4A023BF9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Routers modularize the server's responsibilities. </a:t>
            </a:r>
          </a:p>
          <a:p>
            <a:r>
              <a:rPr lang="en-US" dirty="0"/>
              <a:t>Assume you are creating a Blog web server where</a:t>
            </a:r>
          </a:p>
          <a:p>
            <a:pPr lvl="1"/>
            <a:r>
              <a:rPr lang="en-US" dirty="0"/>
              <a:t>Users can create a profile (signup), login, logout, change profile info</a:t>
            </a:r>
          </a:p>
          <a:p>
            <a:pPr lvl="2"/>
            <a:r>
              <a:rPr lang="en-US" dirty="0"/>
              <a:t>All those actions could be handled by the User.js router as they relate to the user </a:t>
            </a:r>
          </a:p>
          <a:p>
            <a:pPr lvl="2"/>
            <a:r>
              <a:rPr lang="en-US" dirty="0"/>
              <a:t>All those </a:t>
            </a:r>
            <a:r>
              <a:rPr lang="en-US" dirty="0" err="1"/>
              <a:t>urls</a:t>
            </a:r>
            <a:r>
              <a:rPr lang="en-US" dirty="0"/>
              <a:t> have a common prefix: 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users</a:t>
            </a:r>
            <a:r>
              <a:rPr lang="en-US" dirty="0"/>
              <a:t>/signup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users</a:t>
            </a:r>
            <a:r>
              <a:rPr lang="en-US" dirty="0"/>
              <a:t>/signup/submit-form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users</a:t>
            </a:r>
            <a:r>
              <a:rPr lang="en-US" dirty="0"/>
              <a:t>/</a:t>
            </a:r>
            <a:r>
              <a:rPr lang="en-US" dirty="0" err="1"/>
              <a:t>signin</a:t>
            </a:r>
            <a:endParaRPr lang="en-US" dirty="0"/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users</a:t>
            </a:r>
            <a:r>
              <a:rPr lang="en-US" dirty="0"/>
              <a:t>/</a:t>
            </a:r>
            <a:r>
              <a:rPr lang="en-US" dirty="0" err="1"/>
              <a:t>signin</a:t>
            </a:r>
            <a:r>
              <a:rPr lang="en-US" dirty="0"/>
              <a:t>/submit-form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users</a:t>
            </a:r>
            <a:r>
              <a:rPr lang="en-US" dirty="0"/>
              <a:t>/logout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users</a:t>
            </a:r>
            <a:r>
              <a:rPr lang="en-US" dirty="0"/>
              <a:t>/profile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users</a:t>
            </a:r>
            <a:r>
              <a:rPr lang="en-US" dirty="0"/>
              <a:t>/profile/save-changes</a:t>
            </a:r>
          </a:p>
          <a:p>
            <a:pPr marL="1371600" lvl="3" indent="0">
              <a:buNone/>
            </a:pPr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7DCED85-8BC6-665B-B278-25ECCC6260FD}"/>
              </a:ext>
            </a:extLst>
          </p:cNvPr>
          <p:cNvCxnSpPr/>
          <p:nvPr/>
        </p:nvCxnSpPr>
        <p:spPr>
          <a:xfrm flipH="1" flipV="1">
            <a:off x="5762098" y="4006818"/>
            <a:ext cx="2274513" cy="41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EB5653-5845-9E55-2F3D-FBBED471457E}"/>
              </a:ext>
            </a:extLst>
          </p:cNvPr>
          <p:cNvCxnSpPr>
            <a:cxnSpLocks/>
          </p:cNvCxnSpPr>
          <p:nvPr/>
        </p:nvCxnSpPr>
        <p:spPr>
          <a:xfrm flipH="1">
            <a:off x="5348551" y="4048173"/>
            <a:ext cx="2688060" cy="5743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E45EF0-F286-19F0-6593-BD9C38FA6169}"/>
              </a:ext>
            </a:extLst>
          </p:cNvPr>
          <p:cNvCxnSpPr>
            <a:cxnSpLocks/>
          </p:cNvCxnSpPr>
          <p:nvPr/>
        </p:nvCxnSpPr>
        <p:spPr>
          <a:xfrm flipH="1">
            <a:off x="5348551" y="4048173"/>
            <a:ext cx="2688060" cy="1516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1FFCFA0-4000-CCBD-C6BC-BAF7E1DE0736}"/>
              </a:ext>
            </a:extLst>
          </p:cNvPr>
          <p:cNvSpPr txBox="1"/>
          <p:nvPr/>
        </p:nvSpPr>
        <p:spPr>
          <a:xfrm>
            <a:off x="8036611" y="3816628"/>
            <a:ext cx="31390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Used to get the page with the</a:t>
            </a:r>
          </a:p>
          <a:p>
            <a:r>
              <a:rPr lang="en-US" dirty="0"/>
              <a:t>form to fill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24325E-471C-84E7-245A-04E5953FA95D}"/>
              </a:ext>
            </a:extLst>
          </p:cNvPr>
          <p:cNvSpPr txBox="1"/>
          <p:nvPr/>
        </p:nvSpPr>
        <p:spPr>
          <a:xfrm>
            <a:off x="8083327" y="4996795"/>
            <a:ext cx="3175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Used to submit the form data</a:t>
            </a:r>
          </a:p>
          <a:p>
            <a:r>
              <a:rPr lang="en-US" dirty="0"/>
              <a:t>for server to authenticate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A52F2B-6551-273C-7D25-6A7510BE3765}"/>
              </a:ext>
            </a:extLst>
          </p:cNvPr>
          <p:cNvCxnSpPr>
            <a:cxnSpLocks/>
          </p:cNvCxnSpPr>
          <p:nvPr/>
        </p:nvCxnSpPr>
        <p:spPr>
          <a:xfrm flipH="1" flipV="1">
            <a:off x="6692581" y="4462959"/>
            <a:ext cx="1296142" cy="808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68B14BB-B766-A175-732C-2D01D93677A6}"/>
              </a:ext>
            </a:extLst>
          </p:cNvPr>
          <p:cNvCxnSpPr>
            <a:cxnSpLocks/>
          </p:cNvCxnSpPr>
          <p:nvPr/>
        </p:nvCxnSpPr>
        <p:spPr>
          <a:xfrm flipH="1" flipV="1">
            <a:off x="6644693" y="4996795"/>
            <a:ext cx="1344030" cy="2744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778903-6445-1CBF-8F7E-8E393F659B31}"/>
              </a:ext>
            </a:extLst>
          </p:cNvPr>
          <p:cNvCxnSpPr>
            <a:cxnSpLocks/>
          </p:cNvCxnSpPr>
          <p:nvPr/>
        </p:nvCxnSpPr>
        <p:spPr>
          <a:xfrm flipH="1">
            <a:off x="6692581" y="5271202"/>
            <a:ext cx="1296142" cy="5338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699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92734-15EF-095D-AFDD-8862215D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DA8B-718B-BDA0-FE52-BB80231D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2EBA5-454E-1510-6D44-35FB24E8C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you are creating a Blog web server where</a:t>
            </a:r>
          </a:p>
          <a:p>
            <a:pPr lvl="1"/>
            <a:r>
              <a:rPr lang="en-US" dirty="0"/>
              <a:t>Users can create a posts, save drafts, publish and delete posts/drafts</a:t>
            </a:r>
          </a:p>
          <a:p>
            <a:pPr lvl="2"/>
            <a:r>
              <a:rPr lang="en-US" dirty="0"/>
              <a:t>All those actions could be handled by the Posts.js router as they relate to the user </a:t>
            </a:r>
          </a:p>
          <a:p>
            <a:pPr lvl="2"/>
            <a:r>
              <a:rPr lang="en-US" dirty="0"/>
              <a:t>All those </a:t>
            </a:r>
            <a:r>
              <a:rPr lang="en-US" dirty="0" err="1"/>
              <a:t>urls</a:t>
            </a:r>
            <a:r>
              <a:rPr lang="en-US" dirty="0"/>
              <a:t> have a common prefix: 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posts</a:t>
            </a:r>
            <a:r>
              <a:rPr lang="en-US" dirty="0"/>
              <a:t>/user-id/draft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posts</a:t>
            </a:r>
            <a:r>
              <a:rPr lang="en-US" dirty="0"/>
              <a:t>/draft/save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posts</a:t>
            </a:r>
            <a:r>
              <a:rPr lang="en-US" dirty="0"/>
              <a:t>/draft/publish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posts</a:t>
            </a:r>
            <a:r>
              <a:rPr lang="en-US" dirty="0"/>
              <a:t>/post-id/delete</a:t>
            </a:r>
          </a:p>
          <a:p>
            <a:pPr lvl="3"/>
            <a:r>
              <a:rPr lang="en-US" dirty="0"/>
              <a:t>domain.com/</a:t>
            </a:r>
            <a:r>
              <a:rPr lang="en-US" dirty="0">
                <a:solidFill>
                  <a:srgbClr val="FFFF00"/>
                </a:solidFill>
              </a:rPr>
              <a:t>posts</a:t>
            </a:r>
            <a:r>
              <a:rPr lang="en-US" dirty="0"/>
              <a:t>/post-id/make-private</a:t>
            </a:r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762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A0A2A-5ECF-911F-6202-2A12511A6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910E5-D351-1FEA-6DE3-EB511AB30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router </a:t>
            </a:r>
            <a:r>
              <a:rPr lang="en-US" dirty="0" err="1"/>
              <a:t>js</a:t>
            </a:r>
            <a:r>
              <a:rPr lang="en-US" dirty="0"/>
              <a:t> files are tied to the prefix</a:t>
            </a:r>
          </a:p>
          <a:p>
            <a:pPr lvl="1"/>
            <a:r>
              <a:rPr lang="en-US" dirty="0"/>
              <a:t>Users.js is tied to /user</a:t>
            </a:r>
          </a:p>
          <a:p>
            <a:pPr lvl="1"/>
            <a:r>
              <a:rPr lang="en-US" dirty="0"/>
              <a:t>Posts.js is tied to /posts</a:t>
            </a:r>
          </a:p>
          <a:p>
            <a:r>
              <a:rPr lang="en-US" dirty="0"/>
              <a:t>Internally, routers don’t specify the prefix</a:t>
            </a:r>
          </a:p>
          <a:p>
            <a:pPr lvl="1"/>
            <a:r>
              <a:rPr lang="en-US" dirty="0"/>
              <a:t>Inside User.js</a:t>
            </a:r>
          </a:p>
          <a:p>
            <a:pPr lvl="2"/>
            <a:r>
              <a:rPr lang="en-US" dirty="0" err="1"/>
              <a:t>router.get</a:t>
            </a:r>
            <a:r>
              <a:rPr lang="en-US" dirty="0"/>
              <a:t>(“/signup”, (req, res) =&gt; { … });                            </a:t>
            </a:r>
            <a:r>
              <a:rPr lang="en-US" dirty="0">
                <a:sym typeface="Wingdings" panose="05000000000000000000" pitchFamily="2" charset="2"/>
              </a:rPr>
              <a:t> /user/signup</a:t>
            </a:r>
            <a:endParaRPr lang="en-US" dirty="0"/>
          </a:p>
          <a:p>
            <a:pPr lvl="2"/>
            <a:r>
              <a:rPr lang="en-US" dirty="0" err="1"/>
              <a:t>router.post</a:t>
            </a:r>
            <a:r>
              <a:rPr lang="en-US" dirty="0"/>
              <a:t>(“/signup/submit”, (req, res) =&gt; { … });           </a:t>
            </a:r>
            <a:r>
              <a:rPr lang="en-US" dirty="0">
                <a:sym typeface="Wingdings" panose="05000000000000000000" pitchFamily="2" charset="2"/>
              </a:rPr>
              <a:t> /user/signup/submit</a:t>
            </a:r>
            <a:endParaRPr lang="en-US" dirty="0"/>
          </a:p>
          <a:p>
            <a:pPr lvl="2"/>
            <a:r>
              <a:rPr lang="en-US" dirty="0" err="1"/>
              <a:t>router.get</a:t>
            </a:r>
            <a:r>
              <a:rPr lang="en-US" dirty="0"/>
              <a:t>(“/</a:t>
            </a:r>
            <a:r>
              <a:rPr lang="en-US" dirty="0" err="1"/>
              <a:t>signin</a:t>
            </a:r>
            <a:r>
              <a:rPr lang="en-US" dirty="0"/>
              <a:t>”, (req, res) =&gt; { … });</a:t>
            </a:r>
            <a:r>
              <a:rPr lang="en-US" dirty="0">
                <a:sym typeface="Wingdings" panose="05000000000000000000" pitchFamily="2" charset="2"/>
              </a:rPr>
              <a:t>                              /user/</a:t>
            </a:r>
            <a:r>
              <a:rPr lang="en-US" dirty="0" err="1">
                <a:sym typeface="Wingdings" panose="05000000000000000000" pitchFamily="2" charset="2"/>
              </a:rPr>
              <a:t>signin</a:t>
            </a:r>
            <a:endParaRPr lang="en-US" dirty="0"/>
          </a:p>
          <a:p>
            <a:pPr lvl="2"/>
            <a:r>
              <a:rPr lang="en-US" dirty="0" err="1"/>
              <a:t>router.post</a:t>
            </a:r>
            <a:r>
              <a:rPr lang="en-US" dirty="0"/>
              <a:t>(“/</a:t>
            </a:r>
            <a:r>
              <a:rPr lang="en-US" dirty="0" err="1"/>
              <a:t>signin</a:t>
            </a:r>
            <a:r>
              <a:rPr lang="en-US" dirty="0"/>
              <a:t>/submit”, (req, res) =&gt; { … });</a:t>
            </a:r>
            <a:r>
              <a:rPr lang="en-US" dirty="0">
                <a:sym typeface="Wingdings" panose="05000000000000000000" pitchFamily="2" charset="2"/>
              </a:rPr>
              <a:t>             /user/</a:t>
            </a:r>
            <a:r>
              <a:rPr lang="en-US" dirty="0" err="1">
                <a:sym typeface="Wingdings" panose="05000000000000000000" pitchFamily="2" charset="2"/>
              </a:rPr>
              <a:t>signin</a:t>
            </a:r>
            <a:r>
              <a:rPr lang="en-US" dirty="0">
                <a:sym typeface="Wingdings" panose="05000000000000000000" pitchFamily="2" charset="2"/>
              </a:rPr>
              <a:t>/submit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25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C2B1-A0ED-E9B0-A7A8-AC730EEB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F9539-CDFB-4FB7-79C8-249713835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Routers work by writing: </a:t>
            </a:r>
            <a:r>
              <a:rPr lang="en-US" sz="2400" dirty="0" err="1"/>
              <a:t>router.METHOD</a:t>
            </a:r>
            <a:r>
              <a:rPr lang="en-US" sz="2400" dirty="0"/>
              <a:t>(“endpoint”, callback);</a:t>
            </a:r>
            <a:endParaRPr lang="en-US" dirty="0"/>
          </a:p>
          <a:p>
            <a:pPr lvl="1"/>
            <a:r>
              <a:rPr lang="en-US" dirty="0"/>
              <a:t>router is the object tied to the prefix</a:t>
            </a:r>
          </a:p>
          <a:p>
            <a:pPr lvl="1"/>
            <a:r>
              <a:rPr lang="en-US" dirty="0"/>
              <a:t>method is any HTTP method: get, post, put, delete</a:t>
            </a:r>
          </a:p>
          <a:p>
            <a:pPr lvl="1"/>
            <a:r>
              <a:rPr lang="en-US" dirty="0" err="1"/>
              <a:t>url</a:t>
            </a:r>
            <a:r>
              <a:rPr lang="en-US" dirty="0"/>
              <a:t> is any </a:t>
            </a:r>
            <a:r>
              <a:rPr lang="en-US" dirty="0" err="1"/>
              <a:t>url</a:t>
            </a:r>
            <a:r>
              <a:rPr lang="en-US" dirty="0"/>
              <a:t> you have defined for your web app</a:t>
            </a:r>
          </a:p>
          <a:p>
            <a:pPr lvl="1"/>
            <a:r>
              <a:rPr lang="en-US" dirty="0"/>
              <a:t>callback is the function to handle the requests from the client</a:t>
            </a:r>
          </a:p>
        </p:txBody>
      </p:sp>
    </p:spTree>
    <p:extLst>
      <p:ext uri="{BB962C8B-B14F-4D97-AF65-F5344CB8AC3E}">
        <p14:creationId xmlns:p14="http://schemas.microsoft.com/office/powerpoint/2010/main" val="234272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4FADB-86A4-EFEA-C13A-C4C7C7B10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Responding to Clients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2FA7D-DDA2-9965-7755-DC07558EE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Express has several functions to respond and end connection with the client (web browser):</a:t>
            </a:r>
          </a:p>
          <a:p>
            <a:pPr lvl="1"/>
            <a:r>
              <a:rPr lang="en-US" dirty="0" err="1"/>
              <a:t>res.send</a:t>
            </a:r>
            <a:r>
              <a:rPr lang="en-US" dirty="0"/>
              <a:t>()            </a:t>
            </a:r>
            <a:r>
              <a:rPr lang="en-US" dirty="0">
                <a:sym typeface="Wingdings" panose="05000000000000000000" pitchFamily="2" charset="2"/>
              </a:rPr>
              <a:t> Send a Buffer, String, Boolean, Array</a:t>
            </a:r>
            <a:endParaRPr lang="en-US" dirty="0"/>
          </a:p>
          <a:p>
            <a:pPr lvl="1"/>
            <a:r>
              <a:rPr lang="en-US" dirty="0" err="1"/>
              <a:t>res.sendFile</a:t>
            </a:r>
            <a:r>
              <a:rPr lang="en-US" dirty="0"/>
              <a:t>()     </a:t>
            </a:r>
            <a:r>
              <a:rPr lang="en-US" dirty="0">
                <a:sym typeface="Wingdings" panose="05000000000000000000" pitchFamily="2" charset="2"/>
              </a:rPr>
              <a:t> Send a file</a:t>
            </a:r>
            <a:endParaRPr lang="en-US" dirty="0"/>
          </a:p>
          <a:p>
            <a:pPr lvl="1"/>
            <a:r>
              <a:rPr lang="en-US" dirty="0" err="1"/>
              <a:t>res.render</a:t>
            </a:r>
            <a:r>
              <a:rPr lang="en-US" dirty="0"/>
              <a:t>()</a:t>
            </a:r>
            <a:r>
              <a:rPr lang="en-US" dirty="0">
                <a:sym typeface="Wingdings" panose="05000000000000000000" pitchFamily="2" charset="2"/>
              </a:rPr>
              <a:t>         Render and send the dynamic HTML pages</a:t>
            </a:r>
            <a:endParaRPr lang="en-US" dirty="0"/>
          </a:p>
          <a:p>
            <a:pPr lvl="1"/>
            <a:r>
              <a:rPr lang="en-US" dirty="0" err="1"/>
              <a:t>res.redirect</a:t>
            </a:r>
            <a:r>
              <a:rPr lang="en-US" dirty="0"/>
              <a:t>()</a:t>
            </a:r>
            <a:r>
              <a:rPr lang="en-US" dirty="0">
                <a:sym typeface="Wingdings" panose="05000000000000000000" pitchFamily="2" charset="2"/>
              </a:rPr>
              <a:t>       Redirects to another portion of the server/web</a:t>
            </a:r>
            <a:endParaRPr lang="en-US" dirty="0"/>
          </a:p>
          <a:p>
            <a:pPr lvl="1"/>
            <a:r>
              <a:rPr lang="en-US" dirty="0" err="1"/>
              <a:t>res.download</a:t>
            </a:r>
            <a:r>
              <a:rPr lang="en-US" dirty="0"/>
              <a:t>()</a:t>
            </a:r>
            <a:r>
              <a:rPr lang="en-US" dirty="0">
                <a:sym typeface="Wingdings" panose="05000000000000000000" pitchFamily="2" charset="2"/>
              </a:rPr>
              <a:t>   Sends a file which is downloaded by the browser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res.cookie</a:t>
            </a:r>
            <a:r>
              <a:rPr lang="en-US" dirty="0">
                <a:sym typeface="Wingdings" panose="05000000000000000000" pitchFamily="2" charset="2"/>
              </a:rPr>
              <a:t>()         Send a cookie to the browser</a:t>
            </a:r>
          </a:p>
          <a:p>
            <a:r>
              <a:rPr lang="en-US" dirty="0">
                <a:sym typeface="Wingdings" panose="05000000000000000000" pitchFamily="2" charset="2"/>
              </a:rPr>
              <a:t>Read more </a:t>
            </a:r>
            <a:r>
              <a:rPr lang="en-US" dirty="0">
                <a:sym typeface="Wingdings" panose="05000000000000000000" pitchFamily="2" charset="2"/>
                <a:hlinkClick r:id="rId2"/>
              </a:rPr>
              <a:t>here</a:t>
            </a: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65445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07F9-20C2-8277-2828-77292434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EJS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0BAB2-5D34-F057-3391-B451F249A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Embedded JS is a HTML Templating package</a:t>
            </a:r>
          </a:p>
          <a:p>
            <a:r>
              <a:rPr lang="en-US" dirty="0"/>
              <a:t>Enables us to write JS logic code inside HTML files</a:t>
            </a:r>
          </a:p>
          <a:p>
            <a:r>
              <a:rPr lang="en-US" dirty="0"/>
              <a:t>Needs to be installed: </a:t>
            </a:r>
            <a:r>
              <a:rPr lang="en-US" dirty="0" err="1"/>
              <a:t>npm</a:t>
            </a:r>
            <a:r>
              <a:rPr lang="en-US" dirty="0"/>
              <a:t> install </a:t>
            </a:r>
            <a:r>
              <a:rPr lang="en-US" dirty="0" err="1"/>
              <a:t>ejs</a:t>
            </a:r>
            <a:endParaRPr lang="en-US" dirty="0"/>
          </a:p>
          <a:p>
            <a:r>
              <a:rPr lang="en-US" dirty="0"/>
              <a:t>Tags used:</a:t>
            </a:r>
          </a:p>
          <a:p>
            <a:pPr lvl="1"/>
            <a:r>
              <a:rPr lang="en-US" dirty="0">
                <a:solidFill>
                  <a:srgbClr val="FFFF00"/>
                </a:solidFill>
              </a:rPr>
              <a:t>&lt;%    </a:t>
            </a:r>
            <a:r>
              <a:rPr lang="en-US" dirty="0" err="1">
                <a:solidFill>
                  <a:srgbClr val="FFFF00"/>
                </a:solidFill>
              </a:rPr>
              <a:t>js</a:t>
            </a:r>
            <a:r>
              <a:rPr lang="en-US" dirty="0">
                <a:solidFill>
                  <a:srgbClr val="FFFF00"/>
                </a:solidFill>
              </a:rPr>
              <a:t> code here  %&gt;</a:t>
            </a:r>
          </a:p>
          <a:p>
            <a:pPr lvl="3"/>
            <a:r>
              <a:rPr lang="en-US" dirty="0"/>
              <a:t>Allow the use of for/while loops, if-else statements</a:t>
            </a:r>
          </a:p>
          <a:p>
            <a:pPr marL="1371600" lvl="3" indent="0">
              <a:buNone/>
            </a:pPr>
            <a:endParaRPr lang="en-US" dirty="0"/>
          </a:p>
          <a:p>
            <a:pPr lvl="1"/>
            <a:r>
              <a:rPr lang="en-US" dirty="0">
                <a:solidFill>
                  <a:srgbClr val="FFFF00"/>
                </a:solidFill>
              </a:rPr>
              <a:t>&lt;%= variable name here  %&gt;</a:t>
            </a:r>
          </a:p>
          <a:p>
            <a:pPr lvl="3"/>
            <a:r>
              <a:rPr lang="en-US" dirty="0"/>
              <a:t>Substitutes the variable with its value</a:t>
            </a:r>
          </a:p>
          <a:p>
            <a:pPr lvl="3"/>
            <a:endParaRPr lang="en-US" dirty="0"/>
          </a:p>
          <a:p>
            <a:pPr lvl="1"/>
            <a:r>
              <a:rPr lang="en-US" dirty="0">
                <a:solidFill>
                  <a:srgbClr val="FFFF00"/>
                </a:solidFill>
              </a:rPr>
              <a:t>&lt;%-  include(relative/file/p/a/t/h)  %&gt;</a:t>
            </a:r>
          </a:p>
          <a:p>
            <a:pPr lvl="3"/>
            <a:r>
              <a:rPr lang="en-US" dirty="0"/>
              <a:t>Embedded other </a:t>
            </a:r>
            <a:r>
              <a:rPr lang="en-US" dirty="0" err="1"/>
              <a:t>ejs</a:t>
            </a:r>
            <a:r>
              <a:rPr lang="en-US" dirty="0"/>
              <a:t> files in the current file</a:t>
            </a:r>
          </a:p>
          <a:p>
            <a:pPr lvl="3"/>
            <a:r>
              <a:rPr lang="en-US" dirty="0"/>
              <a:t>Allows for component-based programming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045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32DF7-A40C-2913-FC21-D8E1F0E71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Nodemon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D2D3E-1EFC-4029-3CE9-0F1F19796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Automatically restarts the server if code is changes</a:t>
            </a:r>
          </a:p>
          <a:p>
            <a:r>
              <a:rPr lang="en-US" dirty="0"/>
              <a:t>This streamlines the developments as you don’t have to restart the server every time you change/add/remove code</a:t>
            </a:r>
          </a:p>
          <a:p>
            <a:r>
              <a:rPr lang="en-US" dirty="0" err="1"/>
              <a:t>Nodemon</a:t>
            </a:r>
            <a:r>
              <a:rPr lang="en-US" dirty="0"/>
              <a:t> is a package and need to be installed: 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install –g </a:t>
            </a:r>
            <a:r>
              <a:rPr lang="en-US" dirty="0" err="1"/>
              <a:t>nodemon</a:t>
            </a:r>
            <a:endParaRPr lang="en-US" dirty="0"/>
          </a:p>
          <a:p>
            <a:r>
              <a:rPr lang="en-US" dirty="0"/>
              <a:t>Once installed, instead of starting the server with node or </a:t>
            </a:r>
            <a:r>
              <a:rPr lang="en-US" dirty="0" err="1"/>
              <a:t>npm</a:t>
            </a:r>
            <a:r>
              <a:rPr lang="en-US" dirty="0"/>
              <a:t>, you start it with </a:t>
            </a:r>
            <a:r>
              <a:rPr lang="en-US" dirty="0" err="1"/>
              <a:t>nodemon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nodemon</a:t>
            </a:r>
            <a:r>
              <a:rPr lang="en-US" dirty="0"/>
              <a:t> start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188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7DEB-7B70-C69B-56E5-DEE614A83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and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71C2-6B37-490E-15EC-A1027286A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friend creates the main repository: RepoX</a:t>
            </a:r>
          </a:p>
          <a:p>
            <a:r>
              <a:rPr lang="en-US" dirty="0"/>
              <a:t>Fork RepoX to your own GitHub account: </a:t>
            </a:r>
            <a:r>
              <a:rPr lang="en-US" dirty="0" err="1"/>
              <a:t>RepoY</a:t>
            </a:r>
            <a:endParaRPr lang="en-US" dirty="0"/>
          </a:p>
          <a:p>
            <a:pPr lvl="1"/>
            <a:r>
              <a:rPr lang="en-US" dirty="0"/>
              <a:t>Forking is done on GitHub website</a:t>
            </a:r>
          </a:p>
          <a:p>
            <a:r>
              <a:rPr lang="en-US" dirty="0"/>
              <a:t>Clone </a:t>
            </a:r>
            <a:r>
              <a:rPr lang="en-US" dirty="0" err="1"/>
              <a:t>RepoY</a:t>
            </a:r>
            <a:r>
              <a:rPr lang="en-US" dirty="0"/>
              <a:t> to your local machine: </a:t>
            </a:r>
            <a:r>
              <a:rPr lang="en-US" dirty="0" err="1"/>
              <a:t>RepoZ</a:t>
            </a:r>
            <a:endParaRPr lang="en-US" dirty="0"/>
          </a:p>
          <a:p>
            <a:pPr lvl="1"/>
            <a:r>
              <a:rPr lang="en-US" dirty="0"/>
              <a:t>Cloning is done on your terminal (MacOS) or PowerShell (Windows)</a:t>
            </a:r>
          </a:p>
          <a:p>
            <a:pPr lvl="1"/>
            <a:r>
              <a:rPr lang="en-US" dirty="0"/>
              <a:t>Command: git clone &lt;</a:t>
            </a:r>
            <a:r>
              <a:rPr lang="en-US" dirty="0" err="1"/>
              <a:t>url_repoy</a:t>
            </a:r>
            <a:r>
              <a:rPr lang="en-US" dirty="0"/>
              <a:t>&gt;</a:t>
            </a:r>
          </a:p>
          <a:p>
            <a:r>
              <a:rPr lang="en-US" dirty="0"/>
              <a:t>Then do the following to authenticate your </a:t>
            </a:r>
            <a:r>
              <a:rPr lang="en-US" dirty="0" err="1"/>
              <a:t>RepoZ</a:t>
            </a:r>
            <a:r>
              <a:rPr lang="en-US" dirty="0"/>
              <a:t> with </a:t>
            </a:r>
            <a:r>
              <a:rPr lang="en-US" dirty="0" err="1"/>
              <a:t>RepoY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git config </a:t>
            </a:r>
            <a:r>
              <a:rPr lang="en-US" dirty="0" err="1"/>
              <a:t>credential.helper</a:t>
            </a:r>
            <a:r>
              <a:rPr lang="en-US" dirty="0"/>
              <a:t> store</a:t>
            </a:r>
          </a:p>
          <a:p>
            <a:pPr lvl="1"/>
            <a:r>
              <a:rPr lang="en-US" dirty="0"/>
              <a:t>git push &lt;</a:t>
            </a:r>
            <a:r>
              <a:rPr lang="en-US" dirty="0" err="1"/>
              <a:t>url_repoy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Enter your username: &lt;user&gt;</a:t>
            </a:r>
          </a:p>
          <a:p>
            <a:pPr lvl="1"/>
            <a:r>
              <a:rPr lang="en-US" dirty="0"/>
              <a:t>Enter your password: &lt;pass&gt;</a:t>
            </a:r>
          </a:p>
          <a:p>
            <a:pPr lvl="2"/>
            <a:r>
              <a:rPr lang="en-US" dirty="0"/>
              <a:t>The password is actually a Token (see next slide)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669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75A5F-F60D-1338-91D8-89B084189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and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AA6D9-23F2-387F-C7B4-055B24E28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asked for a password, a token is required</a:t>
            </a:r>
          </a:p>
          <a:p>
            <a:pPr lvl="1"/>
            <a:r>
              <a:rPr lang="en-US" dirty="0"/>
              <a:t>GitHub profile settings </a:t>
            </a:r>
          </a:p>
          <a:p>
            <a:pPr lvl="1"/>
            <a:r>
              <a:rPr lang="en-US" dirty="0"/>
              <a:t>Settings </a:t>
            </a:r>
          </a:p>
          <a:p>
            <a:pPr lvl="1"/>
            <a:r>
              <a:rPr lang="en-US" dirty="0"/>
              <a:t>Developer Settings </a:t>
            </a:r>
          </a:p>
          <a:p>
            <a:pPr lvl="1"/>
            <a:r>
              <a:rPr lang="en-US" dirty="0"/>
              <a:t>Personal access tokens</a:t>
            </a:r>
          </a:p>
          <a:p>
            <a:pPr lvl="1"/>
            <a:r>
              <a:rPr lang="en-US" dirty="0"/>
              <a:t>Generate new token (button) </a:t>
            </a:r>
          </a:p>
          <a:p>
            <a:pPr lvl="1"/>
            <a:r>
              <a:rPr lang="en-US" dirty="0"/>
              <a:t>Generate new token (classic)</a:t>
            </a:r>
          </a:p>
          <a:p>
            <a:pPr lvl="1"/>
            <a:r>
              <a:rPr lang="en-US" dirty="0"/>
              <a:t>Check the repo checkbox</a:t>
            </a:r>
          </a:p>
          <a:p>
            <a:pPr lvl="1"/>
            <a:r>
              <a:rPr lang="en-US" dirty="0"/>
              <a:t>Copy the token (only showed once) </a:t>
            </a:r>
          </a:p>
          <a:p>
            <a:pPr lvl="1"/>
            <a:r>
              <a:rPr lang="en-US" dirty="0"/>
              <a:t>Paste token in the password field</a:t>
            </a:r>
          </a:p>
        </p:txBody>
      </p:sp>
    </p:spTree>
    <p:extLst>
      <p:ext uri="{BB962C8B-B14F-4D97-AF65-F5344CB8AC3E}">
        <p14:creationId xmlns:p14="http://schemas.microsoft.com/office/powerpoint/2010/main" val="3615298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21E6-0D02-D6D3-3A6E-0E46AC58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Collaboration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04B309-0354-56D7-B915-9AC68BCF3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482" y="1695283"/>
            <a:ext cx="9441035" cy="467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97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5C796-3B95-6477-6E16-FD1F5D7EF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EA771F-F6AB-D613-0EF2-60ADD04E5809}"/>
              </a:ext>
            </a:extLst>
          </p:cNvPr>
          <p:cNvSpPr/>
          <p:nvPr/>
        </p:nvSpPr>
        <p:spPr>
          <a:xfrm>
            <a:off x="721410" y="2412362"/>
            <a:ext cx="1686355" cy="2063144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Working Directory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3311FA-0007-F5B7-AF57-C1AAD30BEFB9}"/>
              </a:ext>
            </a:extLst>
          </p:cNvPr>
          <p:cNvSpPr/>
          <p:nvPr/>
        </p:nvSpPr>
        <p:spPr>
          <a:xfrm>
            <a:off x="3019664" y="2412362"/>
            <a:ext cx="1686355" cy="2063144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Staging Area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FF06F-524C-A8A9-BB39-DF1FBA85ADCA}"/>
              </a:ext>
            </a:extLst>
          </p:cNvPr>
          <p:cNvSpPr/>
          <p:nvPr/>
        </p:nvSpPr>
        <p:spPr>
          <a:xfrm>
            <a:off x="5317918" y="2412362"/>
            <a:ext cx="1686355" cy="2063144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Local Directory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7DD878-4517-96A8-6E9B-2D87B16766DA}"/>
              </a:ext>
            </a:extLst>
          </p:cNvPr>
          <p:cNvSpPr/>
          <p:nvPr/>
        </p:nvSpPr>
        <p:spPr>
          <a:xfrm>
            <a:off x="7538057" y="2397428"/>
            <a:ext cx="1686355" cy="2063144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Remote Repository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9E39C-AC8F-C765-8EF2-87826E025C37}"/>
              </a:ext>
            </a:extLst>
          </p:cNvPr>
          <p:cNvSpPr/>
          <p:nvPr/>
        </p:nvSpPr>
        <p:spPr>
          <a:xfrm>
            <a:off x="9758196" y="2397428"/>
            <a:ext cx="1686355" cy="2063144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Original Repository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B8B65E6-039E-78A3-141A-7B13D2CB751B}"/>
              </a:ext>
            </a:extLst>
          </p:cNvPr>
          <p:cNvSpPr/>
          <p:nvPr/>
        </p:nvSpPr>
        <p:spPr>
          <a:xfrm>
            <a:off x="1888533" y="3386496"/>
            <a:ext cx="1686355" cy="542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git stage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EB9C5B9F-10A0-4807-EA3A-8B976FDF8589}"/>
              </a:ext>
            </a:extLst>
          </p:cNvPr>
          <p:cNvSpPr/>
          <p:nvPr/>
        </p:nvSpPr>
        <p:spPr>
          <a:xfrm>
            <a:off x="4264924" y="3386496"/>
            <a:ext cx="1686355" cy="542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git commit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49851E2-2953-51D2-ED6C-6383DECABF59}"/>
              </a:ext>
            </a:extLst>
          </p:cNvPr>
          <p:cNvSpPr/>
          <p:nvPr/>
        </p:nvSpPr>
        <p:spPr>
          <a:xfrm>
            <a:off x="6398697" y="3389556"/>
            <a:ext cx="1686355" cy="542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 git push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43FE461-D671-9CB1-8DDC-1A04E653F935}"/>
              </a:ext>
            </a:extLst>
          </p:cNvPr>
          <p:cNvSpPr/>
          <p:nvPr/>
        </p:nvSpPr>
        <p:spPr>
          <a:xfrm>
            <a:off x="8632047" y="3342076"/>
            <a:ext cx="1686355" cy="5422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Pull Request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8A477A-555F-5174-7301-5D4503D45CED}"/>
              </a:ext>
            </a:extLst>
          </p:cNvPr>
          <p:cNvSpPr txBox="1"/>
          <p:nvPr/>
        </p:nvSpPr>
        <p:spPr>
          <a:xfrm>
            <a:off x="1007383" y="4613355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status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7D0430-96AF-3F1E-F32F-BE483E4B5906}"/>
              </a:ext>
            </a:extLst>
          </p:cNvPr>
          <p:cNvSpPr txBox="1"/>
          <p:nvPr/>
        </p:nvSpPr>
        <p:spPr>
          <a:xfrm>
            <a:off x="5754573" y="461335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log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84E4B-3278-2E98-4337-84C6F90BBAFA}"/>
              </a:ext>
            </a:extLst>
          </p:cNvPr>
          <p:cNvSpPr txBox="1"/>
          <p:nvPr/>
        </p:nvSpPr>
        <p:spPr>
          <a:xfrm>
            <a:off x="3305637" y="4613355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git status</a:t>
            </a:r>
          </a:p>
        </p:txBody>
      </p:sp>
    </p:spTree>
    <p:extLst>
      <p:ext uri="{BB962C8B-B14F-4D97-AF65-F5344CB8AC3E}">
        <p14:creationId xmlns:p14="http://schemas.microsoft.com/office/powerpoint/2010/main" val="2168017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Georgia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4656</TotalTime>
  <Words>1173</Words>
  <Application>Microsoft Office PowerPoint</Application>
  <PresentationFormat>Widescreen</PresentationFormat>
  <Paragraphs>157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Georgia</vt:lpstr>
      <vt:lpstr>Wingdings</vt:lpstr>
      <vt:lpstr>Office Theme</vt:lpstr>
      <vt:lpstr>1_Office Theme</vt:lpstr>
      <vt:lpstr>WebDev</vt:lpstr>
      <vt:lpstr>ExpressJS</vt:lpstr>
      <vt:lpstr>ExpressJS Setup</vt:lpstr>
      <vt:lpstr>Express Generator </vt:lpstr>
      <vt:lpstr>Express Generator </vt:lpstr>
      <vt:lpstr>Express Generator </vt:lpstr>
      <vt:lpstr>Routers</vt:lpstr>
      <vt:lpstr>Routers</vt:lpstr>
      <vt:lpstr>Routers</vt:lpstr>
      <vt:lpstr>Routers</vt:lpstr>
      <vt:lpstr>Responding to Clients</vt:lpstr>
      <vt:lpstr>EJS Template</vt:lpstr>
      <vt:lpstr>Nodemon</vt:lpstr>
      <vt:lpstr>Git and GitHub</vt:lpstr>
      <vt:lpstr>Git and GitHub</vt:lpstr>
      <vt:lpstr>Git Collaboration Workflow</vt:lpstr>
      <vt:lpstr>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Baci</dc:creator>
  <cp:lastModifiedBy>Nikola Baci</cp:lastModifiedBy>
  <cp:revision>19</cp:revision>
  <dcterms:created xsi:type="dcterms:W3CDTF">2025-07-07T15:37:20Z</dcterms:created>
  <dcterms:modified xsi:type="dcterms:W3CDTF">2025-07-24T18:50:05Z</dcterms:modified>
</cp:coreProperties>
</file>