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8"/>
  </p:notesMasterIdLst>
  <p:sldIdLst>
    <p:sldId id="256" r:id="rId3"/>
    <p:sldId id="261" r:id="rId4"/>
    <p:sldId id="257" r:id="rId5"/>
    <p:sldId id="258" r:id="rId6"/>
    <p:sldId id="259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8299C6-94F9-446C-83AC-CB8140DCB949}" v="1" dt="2025-09-02T11:26:31.1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4" d="100"/>
          <a:sy n="104" d="100"/>
        </p:scale>
        <p:origin x="63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137161" cy="13716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ola Baci" userId="473fddf6-354f-4a55-bb0c-489699c5b784" providerId="ADAL" clId="{5D8299C6-94F9-446C-83AC-CB8140DCB949}"/>
    <pc:docChg chg="custSel addSld modSld">
      <pc:chgData name="Nikola Baci" userId="473fddf6-354f-4a55-bb0c-489699c5b784" providerId="ADAL" clId="{5D8299C6-94F9-446C-83AC-CB8140DCB949}" dt="2025-09-02T11:32:29.168" v="104" actId="20577"/>
      <pc:docMkLst>
        <pc:docMk/>
      </pc:docMkLst>
      <pc:sldChg chg="modSp mod">
        <pc:chgData name="Nikola Baci" userId="473fddf6-354f-4a55-bb0c-489699c5b784" providerId="ADAL" clId="{5D8299C6-94F9-446C-83AC-CB8140DCB949}" dt="2025-09-02T11:28:49.437" v="14" actId="20577"/>
        <pc:sldMkLst>
          <pc:docMk/>
          <pc:sldMk cId="3980540402" sldId="262"/>
        </pc:sldMkLst>
        <pc:spChg chg="mod">
          <ac:chgData name="Nikola Baci" userId="473fddf6-354f-4a55-bb0c-489699c5b784" providerId="ADAL" clId="{5D8299C6-94F9-446C-83AC-CB8140DCB949}" dt="2025-09-02T11:28:49.437" v="14" actId="20577"/>
          <ac:spMkLst>
            <pc:docMk/>
            <pc:sldMk cId="3980540402" sldId="262"/>
            <ac:spMk id="3" creationId="{277AEC01-8F2F-A6EA-BA18-D7F90B8A2D21}"/>
          </ac:spMkLst>
        </pc:spChg>
      </pc:sldChg>
      <pc:sldChg chg="modSp mod">
        <pc:chgData name="Nikola Baci" userId="473fddf6-354f-4a55-bb0c-489699c5b784" providerId="ADAL" clId="{5D8299C6-94F9-446C-83AC-CB8140DCB949}" dt="2025-09-02T11:30:25.087" v="17" actId="20577"/>
        <pc:sldMkLst>
          <pc:docMk/>
          <pc:sldMk cId="1971657225" sldId="264"/>
        </pc:sldMkLst>
        <pc:spChg chg="mod">
          <ac:chgData name="Nikola Baci" userId="473fddf6-354f-4a55-bb0c-489699c5b784" providerId="ADAL" clId="{5D8299C6-94F9-446C-83AC-CB8140DCB949}" dt="2025-09-02T11:30:25.087" v="17" actId="20577"/>
          <ac:spMkLst>
            <pc:docMk/>
            <pc:sldMk cId="1971657225" sldId="264"/>
            <ac:spMk id="3" creationId="{75FC0DDA-7E5B-10F8-734D-67FC09D99688}"/>
          </ac:spMkLst>
        </pc:spChg>
      </pc:sldChg>
      <pc:sldChg chg="modSp new mod">
        <pc:chgData name="Nikola Baci" userId="473fddf6-354f-4a55-bb0c-489699c5b784" providerId="ADAL" clId="{5D8299C6-94F9-446C-83AC-CB8140DCB949}" dt="2025-09-02T11:32:29.168" v="104" actId="20577"/>
        <pc:sldMkLst>
          <pc:docMk/>
          <pc:sldMk cId="3255152786" sldId="270"/>
        </pc:sldMkLst>
        <pc:spChg chg="mod">
          <ac:chgData name="Nikola Baci" userId="473fddf6-354f-4a55-bb0c-489699c5b784" providerId="ADAL" clId="{5D8299C6-94F9-446C-83AC-CB8140DCB949}" dt="2025-09-02T11:31:58.612" v="39" actId="20577"/>
          <ac:spMkLst>
            <pc:docMk/>
            <pc:sldMk cId="3255152786" sldId="270"/>
            <ac:spMk id="2" creationId="{B38DF34F-522F-D8F1-B863-B9E1CAACC286}"/>
          </ac:spMkLst>
        </pc:spChg>
        <pc:spChg chg="mod">
          <ac:chgData name="Nikola Baci" userId="473fddf6-354f-4a55-bb0c-489699c5b784" providerId="ADAL" clId="{5D8299C6-94F9-446C-83AC-CB8140DCB949}" dt="2025-09-02T11:32:29.168" v="104" actId="20577"/>
          <ac:spMkLst>
            <pc:docMk/>
            <pc:sldMk cId="3255152786" sldId="270"/>
            <ac:spMk id="3" creationId="{226DCD16-B197-66F3-D4EA-F6BCF172337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F97E8E-54D9-4838-99C2-CA3920E227A1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8D5F54-43B9-4C9B-B7EC-0A0B581F6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76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FA91C-7B33-39DF-3E5D-E0860E3751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5DBEC5-BA50-04E1-7CD2-493F9DE1B6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50A04-CD10-A4BC-B6E1-449C98380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523D4-F178-9FCC-7C6D-0080BEA34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5D934-C315-D2E2-3BFF-2EE43453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16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03457-769A-7373-20E5-EA62FAE2B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F412C-FFE1-6EE4-6B57-C2892A76D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73ED-140B-1426-B0E2-47CE7B228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2FFE7-D571-E8F3-B64F-900654C89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D7AE5-9F96-4A67-16C8-095610CB4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92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59B5D-7B8C-E5B7-0E67-BCFB5CD3F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AF3AEA-A56E-0A26-AB1A-0F071D77E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2EC55-A8F1-7CBE-4ADB-FC2B43708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58FEC-B222-9CFA-2615-CDF277C28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5A9A7-EA15-9774-AFA9-AE948A7FA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383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8BD36-3851-2534-4111-E7EBF07CA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442F9-9423-B84D-89F8-FD11E5BBD6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DC9037-4C65-3A0D-E6FD-AA59D8679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96CB37-668C-D30D-15C7-81D09E24A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E6F6F3-0E10-19F0-A83D-020012A59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FD5BD6-91EE-3828-6D5D-3F2C5BC45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153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64043-6CD4-A21A-8B05-2D63092B1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ECEFFA-6AF1-D9A5-D7C7-1E2C8172A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7525DB-9901-EF23-54FE-47D04161A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90E6C0-78A1-881A-75EC-1915811ABB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1A7450-955C-A85F-F8A4-5559A6C95E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0B9D76-B441-9EEE-A2CA-8BFC23B8F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81D361-47ED-ADC5-BFE8-B366CC458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0F0289-228B-5630-1CCA-C65E062C3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992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6CD4E-53FB-359A-01E4-82494F8AE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42E3A-B099-7EC1-CECE-4F0AE62B5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E942DD-94FA-64AE-C145-F4C793D24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C112CE-2B60-35F3-2A49-2F197C2D7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299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484135-D17A-CE12-AA75-AAFBACA2F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8E7CEF-2755-42F5-B821-8F4744457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A4E272-6DD9-1E38-ABCD-6FFB360D2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352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D839E-2BC4-78F8-CF27-135A327B4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30251-616B-C04D-2D99-56D18B17B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CC5DD3-CB2E-B6F5-6379-5395CAA5B1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738DA3-7989-E50C-57FF-EEAFB5EE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61913-75BD-8519-F835-741D214A0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A2A922-4969-D97D-F404-3A68DB51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941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4D98-1D5D-45C2-7001-E8EE7685B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BA8314-F02A-FA07-1204-DE6B17D7C0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3DF2BF-F03C-A113-0FF0-D75E345ED5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6F4A24-8CD8-6B38-B905-08D4EA338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A59FFB-BF91-C14A-A966-7547EE07B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87B24-85E0-1E3D-3562-39B70C0AA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462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11189-506D-6096-C277-CB29009C1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ED110-CEC0-646D-883F-2ABC2C658A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0241E-D288-7DEA-DE85-A2568C1E3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BE689-08FA-2D12-32AA-7E5F6361A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96B4A-A3B1-1127-0AAB-D67367204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401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1CCE07-9194-6642-60FB-F72DEE1DD4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1E8DB7-4EF2-6ED5-7AF4-3C9A74AEF1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B16E1-B4A2-7E97-9E32-3A5EEEA21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B7F8C-2977-E0D5-96A8-D8B66916F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FD8D4-BCA2-F002-2B09-BD2968B68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420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06C7D-4652-A1BE-7753-67CC5BD29A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BB6E38-C721-B14C-19CD-39F40A3934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55124-A8B2-D023-3243-783227744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394A7-CEA5-262E-16C9-4002E7AB0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6254E-EC4B-1A06-429A-998C8381E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2345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68B23-4C5A-E2CC-570C-DA846FF7D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F2F0B-7057-4180-2CA2-6B8385BF5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925C6-D6E3-4A5E-7542-2E2DEFE85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7A094-BBF5-5D7F-8CBB-4A224319C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70E9B-9F46-55C6-386E-6F36B77E2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042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5D415-2E6A-BF91-784D-2932401E0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F52525-8574-DB76-9317-A5E70038B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406DF-ACD0-0FB8-DC1C-E73A237FD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D6A50-2402-FC01-2B3E-181494B65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DD2BE-655B-4925-2F8F-A217FDEAF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466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DC157-7FE8-8758-6EE9-D969D2BCA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89B06-5CE6-8D70-47D7-0BF69B3326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9FB4C7-E1B5-72AB-E51D-B48DC2C8C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0CC130-059C-400A-4293-6BFCDD5CE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023FC-D624-587D-5A29-3D1BA3327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F36FE0-952A-8720-8F79-FE9531289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1639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8234C-BE04-E0D5-4B9F-3CBDB658C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853566-BB1F-9774-73EB-F8BB0E0CF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381E10-C95E-9890-2625-5D273B439D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9E44C0-18DA-9471-FFE2-720B9E75F0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E1C173-A1EB-FEED-03FF-3A844C5851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D4E637-1939-FEB5-3D9C-37743933D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7EF853-E189-128C-028B-905A52746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6BEAD5-B7A9-2E36-A963-1775DC5D3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8268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DE85B-F05E-660A-388F-505470365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442AAB-3544-A86E-357A-F2520583C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F2D336-4038-3A3A-12B9-42D591B9D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40416A-336D-E1BE-A3A3-B1EE3848D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6116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A13B87-54C7-D99E-81D7-132E51319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1FD63D-6043-656B-657F-526F372AE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29AE4C-FF96-4B6C-8A43-C72CD00B0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0539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95FC6-C900-7C6D-2E57-65E5272F2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14838-3679-641B-42A9-D5D15820B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DBCF1-D868-2227-6042-583A21A2D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C4760-FEBC-A79B-0016-CD5667040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3436DC-BCD8-5C01-5F7A-9F5E7D702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E4B0C5-04D4-0FA0-D9C2-781020EE6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0518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D62E3-E446-6683-C852-C39EAC572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6E9E7D-2372-E259-DC6C-68A2C85155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888A18-8CC8-635C-277E-7F4043FB74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377E8-07FB-67DF-654F-71C109772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FADA53-1132-8FAF-3B87-0E6E8A213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820D54-27DF-328E-F669-DAC7FB35C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4760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934AC-0BBD-599C-A282-89347E684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CE6DC0-6E71-EB90-6BAD-7C38AF8C11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DEC91-728A-0A9A-9FB1-7DA39D770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BDD4A-C0C5-1444-C9CB-BC66E9BED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04921-6539-195D-BB47-3824C23CD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7259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8F9147-1DAD-616B-7E4E-2F514FA19A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D94AD4-4514-1002-1AB2-38AAC3F75C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58C59-58F4-65E1-49B6-222A434B8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766E4-4BFE-F3FA-FE3A-6A8C07964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72C5C-896B-3E18-BDEC-F645B2297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896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15ECB6-4303-BD3C-2508-64B79CAC4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013D1E-7E47-B8C2-A4B6-E9ED3C93C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BA615-98E3-E360-063F-43FBCD28C6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8BB9D9-658B-4236-B589-0C31CFC544F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17F63-2930-29C4-A055-B6036A40F2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FD834-41C3-00FE-5F33-72399E28ED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243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7ED95C-4E7F-E2A8-AE96-445EB6201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055E4-2524-BA9A-ED0B-9C3CB3AA8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5C39C-F36E-ACA9-434D-1CF43B7A98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FA84B2-7580-4D8F-98DE-2B020D9878ED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9B57B-53F4-EB03-D483-10390F90B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118D6-671C-DFD6-7B5E-47060CA6B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2481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DA067-1E9A-4220-E61F-81C9356678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WebDev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E1E830-8539-8A39-8901-7969E54AB5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Nikola Baci</a:t>
            </a:r>
          </a:p>
        </p:txBody>
      </p:sp>
    </p:spTree>
    <p:extLst>
      <p:ext uri="{BB962C8B-B14F-4D97-AF65-F5344CB8AC3E}">
        <p14:creationId xmlns:p14="http://schemas.microsoft.com/office/powerpoint/2010/main" val="1118450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B0E09-76E8-D86D-9D4C-5B29FE814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Webpage 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2CAAA-F080-BAF6-8FD0-378166EA4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webpage is made of 3 file types:</a:t>
            </a:r>
          </a:p>
          <a:p>
            <a:pPr lvl="1"/>
            <a:r>
              <a:rPr lang="en-US" dirty="0"/>
              <a:t>HTML – structure and content (skeleton)</a:t>
            </a:r>
          </a:p>
          <a:p>
            <a:pPr lvl="1"/>
            <a:r>
              <a:rPr lang="en-US" dirty="0"/>
              <a:t>CSS – layout and design (appearance) </a:t>
            </a:r>
          </a:p>
          <a:p>
            <a:pPr lvl="1"/>
            <a:r>
              <a:rPr lang="en-US" dirty="0"/>
              <a:t>JS – functionality and interactivity (brain)</a:t>
            </a:r>
          </a:p>
        </p:txBody>
      </p:sp>
    </p:spTree>
    <p:extLst>
      <p:ext uri="{BB962C8B-B14F-4D97-AF65-F5344CB8AC3E}">
        <p14:creationId xmlns:p14="http://schemas.microsoft.com/office/powerpoint/2010/main" val="1131127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A5D7E-C8FD-275F-4803-833A76D4B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to 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90111-76DF-698F-FA86-AE680FCA2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HTML (</a:t>
            </a:r>
            <a:r>
              <a:rPr lang="en-US" dirty="0" err="1"/>
              <a:t>HyperText</a:t>
            </a:r>
            <a:r>
              <a:rPr lang="en-US" dirty="0"/>
              <a:t> Markup Language)</a:t>
            </a:r>
          </a:p>
          <a:p>
            <a:pPr lvl="1"/>
            <a:r>
              <a:rPr lang="en-US" dirty="0" err="1"/>
              <a:t>HyperText</a:t>
            </a:r>
            <a:r>
              <a:rPr lang="en-US" dirty="0"/>
              <a:t>: Connections (Links) to other documents</a:t>
            </a:r>
          </a:p>
          <a:p>
            <a:pPr lvl="1"/>
            <a:r>
              <a:rPr lang="en-US" dirty="0"/>
              <a:t>Markup: Syntax that determines how text should be interpreted</a:t>
            </a:r>
          </a:p>
          <a:p>
            <a:pPr lvl="1"/>
            <a:r>
              <a:rPr lang="en-US" dirty="0"/>
              <a:t>Language: Protocol/Rules of the language</a:t>
            </a:r>
          </a:p>
          <a:p>
            <a:r>
              <a:rPr lang="en-US" dirty="0"/>
              <a:t>HTML is made of ~130 HTML elements</a:t>
            </a:r>
          </a:p>
          <a:p>
            <a:pPr lvl="1"/>
            <a:r>
              <a:rPr lang="en-US" dirty="0"/>
              <a:t>(normal) elements</a:t>
            </a:r>
          </a:p>
          <a:p>
            <a:pPr lvl="2"/>
            <a:r>
              <a:rPr lang="en-US" dirty="0"/>
              <a:t>Opening and Closing tags</a:t>
            </a:r>
          </a:p>
          <a:p>
            <a:pPr lvl="2"/>
            <a:r>
              <a:rPr lang="en-US" dirty="0"/>
              <a:t>&lt;p&gt; Hello World &lt;/p&gt;</a:t>
            </a:r>
          </a:p>
          <a:p>
            <a:pPr lvl="1"/>
            <a:r>
              <a:rPr lang="en-US" dirty="0"/>
              <a:t>Void elements</a:t>
            </a:r>
          </a:p>
          <a:p>
            <a:pPr lvl="2"/>
            <a:r>
              <a:rPr lang="en-US" dirty="0"/>
              <a:t>Opening tags</a:t>
            </a:r>
          </a:p>
          <a:p>
            <a:pPr lvl="2"/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=“https://cdn.britannica.com/Martin-Luther-King-Jr.jpg”&gt;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883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9787D-3162-4AFB-57DE-F3044FF75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Popular (Normal) Tags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1704E-43AB-28B2-E30A-5426D5D2B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16395" cy="4351338"/>
          </a:xfrm>
        </p:spPr>
        <p:txBody>
          <a:bodyPr>
            <a:normAutofit/>
          </a:bodyPr>
          <a:lstStyle/>
          <a:p>
            <a:r>
              <a:rPr lang="en-US" dirty="0"/>
              <a:t>&lt;html&gt; &lt;/html&gt;</a:t>
            </a:r>
          </a:p>
          <a:p>
            <a:r>
              <a:rPr lang="en-US" dirty="0"/>
              <a:t>&lt;head&gt; &lt;/head&gt;</a:t>
            </a:r>
          </a:p>
          <a:p>
            <a:r>
              <a:rPr lang="en-US" dirty="0"/>
              <a:t>&lt;body&gt; &lt;/body&gt;</a:t>
            </a:r>
          </a:p>
          <a:p>
            <a:r>
              <a:rPr lang="en-US" dirty="0"/>
              <a:t>&lt;header&gt; &lt;/header&gt;</a:t>
            </a:r>
          </a:p>
          <a:p>
            <a:r>
              <a:rPr lang="en-US" dirty="0"/>
              <a:t>&lt;main&gt; &lt;/main&gt;</a:t>
            </a:r>
          </a:p>
          <a:p>
            <a:r>
              <a:rPr lang="en-US" dirty="0"/>
              <a:t>&lt;aside&gt; &lt;/aside&gt;</a:t>
            </a:r>
          </a:p>
          <a:p>
            <a:r>
              <a:rPr lang="en-US" dirty="0"/>
              <a:t>&lt;footer&gt; &lt;/footer&gt;</a:t>
            </a:r>
          </a:p>
          <a:p>
            <a:r>
              <a:rPr lang="en-US" dirty="0"/>
              <a:t>&lt;section&gt; &lt;/section&gt;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FAD7C85-FAE9-6AEA-682D-35E5ACCDF114}"/>
              </a:ext>
            </a:extLst>
          </p:cNvPr>
          <p:cNvSpPr txBox="1">
            <a:spLocks/>
          </p:cNvSpPr>
          <p:nvPr/>
        </p:nvSpPr>
        <p:spPr>
          <a:xfrm>
            <a:off x="5018904" y="1825625"/>
            <a:ext cx="277409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&lt;h1&gt; &lt;/h1&gt;</a:t>
            </a:r>
          </a:p>
          <a:p>
            <a:r>
              <a:rPr lang="en-US" dirty="0"/>
              <a:t>&lt;div&gt; &lt;/div&gt;</a:t>
            </a:r>
          </a:p>
          <a:p>
            <a:r>
              <a:rPr lang="en-US" dirty="0"/>
              <a:t>&lt;ul&gt; &lt;/ul&gt;</a:t>
            </a:r>
          </a:p>
          <a:p>
            <a:r>
              <a:rPr lang="en-US" dirty="0"/>
              <a:t>&lt;</a:t>
            </a:r>
            <a:r>
              <a:rPr lang="en-US" dirty="0" err="1"/>
              <a:t>ol</a:t>
            </a:r>
            <a:r>
              <a:rPr lang="en-US" dirty="0"/>
              <a:t>&gt; &lt;/</a:t>
            </a:r>
            <a:r>
              <a:rPr lang="en-US" dirty="0" err="1"/>
              <a:t>ol</a:t>
            </a:r>
            <a:r>
              <a:rPr lang="en-US" dirty="0"/>
              <a:t>&gt;</a:t>
            </a:r>
          </a:p>
          <a:p>
            <a:r>
              <a:rPr lang="en-US" dirty="0"/>
              <a:t>&lt;li&gt; &lt;/li&gt;</a:t>
            </a:r>
          </a:p>
          <a:p>
            <a:r>
              <a:rPr lang="en-US" dirty="0"/>
              <a:t>&lt;p&gt; &lt;/p&gt;</a:t>
            </a:r>
          </a:p>
          <a:p>
            <a:r>
              <a:rPr lang="en-US" dirty="0"/>
              <a:t>&lt;a&gt; &lt;/a&gt;</a:t>
            </a:r>
          </a:p>
          <a:p>
            <a:r>
              <a:rPr lang="en-US" dirty="0"/>
              <a:t>&lt;nav&gt; &lt;/nav&gt;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6D81C2C-1B52-15C3-B26F-5B5804A9C9F2}"/>
              </a:ext>
            </a:extLst>
          </p:cNvPr>
          <p:cNvSpPr txBox="1">
            <a:spLocks/>
          </p:cNvSpPr>
          <p:nvPr/>
        </p:nvSpPr>
        <p:spPr>
          <a:xfrm>
            <a:off x="7988643" y="1825625"/>
            <a:ext cx="451639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&lt;span&gt; &lt;/span&gt;</a:t>
            </a:r>
          </a:p>
          <a:p>
            <a:r>
              <a:rPr lang="en-US" dirty="0"/>
              <a:t>&lt;script&gt; &lt;/script&gt;</a:t>
            </a:r>
          </a:p>
          <a:p>
            <a:r>
              <a:rPr lang="en-US" dirty="0"/>
              <a:t>&lt;strong&gt; &lt;/strong&gt;</a:t>
            </a:r>
          </a:p>
          <a:p>
            <a:r>
              <a:rPr lang="en-US" dirty="0"/>
              <a:t>&lt;</a:t>
            </a:r>
            <a:r>
              <a:rPr lang="en-US" dirty="0" err="1"/>
              <a:t>i</a:t>
            </a:r>
            <a:r>
              <a:rPr lang="en-US" dirty="0"/>
              <a:t>&gt; &lt;/</a:t>
            </a:r>
            <a:r>
              <a:rPr lang="en-US" dirty="0" err="1"/>
              <a:t>i</a:t>
            </a:r>
            <a:r>
              <a:rPr lang="en-US" dirty="0"/>
              <a:t>&gt;</a:t>
            </a:r>
          </a:p>
          <a:p>
            <a:r>
              <a:rPr lang="en-US" dirty="0"/>
              <a:t>&lt;</a:t>
            </a:r>
            <a:r>
              <a:rPr lang="en-US" dirty="0" err="1"/>
              <a:t>em</a:t>
            </a:r>
            <a:r>
              <a:rPr lang="en-US" dirty="0"/>
              <a:t>&gt; &lt;/</a:t>
            </a:r>
            <a:r>
              <a:rPr lang="en-US" dirty="0" err="1"/>
              <a:t>em</a:t>
            </a:r>
            <a:r>
              <a:rPr lang="en-US" dirty="0"/>
              <a:t>&gt;</a:t>
            </a:r>
          </a:p>
          <a:p>
            <a:r>
              <a:rPr lang="en-US" dirty="0"/>
              <a:t>&lt;b&gt; &lt;/b&gt;</a:t>
            </a:r>
          </a:p>
          <a:p>
            <a:r>
              <a:rPr lang="en-US" dirty="0"/>
              <a:t>&lt;u&gt; &lt;/u&gt;</a:t>
            </a:r>
          </a:p>
          <a:p>
            <a:r>
              <a:rPr lang="en-US" dirty="0"/>
              <a:t>&lt;s&gt; &lt;/s&gt;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978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EF177-7E79-BA22-B788-E24AE9B7F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Popular Void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1693B-68E5-BA06-2C49-9BA0CEEE7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</a:t>
            </a:r>
            <a:r>
              <a:rPr lang="en-US" dirty="0" err="1"/>
              <a:t>br</a:t>
            </a:r>
            <a:r>
              <a:rPr lang="en-US" dirty="0"/>
              <a:t>&gt; : creates new line (space)</a:t>
            </a:r>
          </a:p>
          <a:p>
            <a:r>
              <a:rPr lang="en-US" dirty="0"/>
              <a:t>&lt;</a:t>
            </a:r>
            <a:r>
              <a:rPr lang="en-US" dirty="0" err="1"/>
              <a:t>hr</a:t>
            </a:r>
            <a:r>
              <a:rPr lang="en-US" dirty="0"/>
              <a:t>&gt; : creates horizontal line</a:t>
            </a:r>
          </a:p>
          <a:p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en-US" dirty="0"/>
              <a:t>&gt; : inserts an image</a:t>
            </a:r>
          </a:p>
          <a:p>
            <a:r>
              <a:rPr lang="en-US" dirty="0"/>
              <a:t>&lt;input&gt; : creates an input field</a:t>
            </a:r>
          </a:p>
          <a:p>
            <a:r>
              <a:rPr lang="en-US" dirty="0"/>
              <a:t>&lt;link&gt; : links to other resources (stylesheet)</a:t>
            </a:r>
          </a:p>
          <a:p>
            <a:r>
              <a:rPr lang="en-US" dirty="0"/>
              <a:t>&lt;meta&gt; : represents metadata for the website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3895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0FDCF-8038-F9C1-AF95-3D2146BF5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9484C-D230-0DCA-DDB5-6AEB81CC1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HTML Elements have attributes</a:t>
            </a:r>
          </a:p>
          <a:p>
            <a:r>
              <a:rPr lang="en-US" dirty="0"/>
              <a:t>Attributes are key-value pairs</a:t>
            </a:r>
          </a:p>
          <a:p>
            <a:r>
              <a:rPr lang="en-US" dirty="0"/>
              <a:t>Attributes are part of the opening tags</a:t>
            </a:r>
          </a:p>
          <a:p>
            <a:pPr marL="457200" lvl="1" indent="0">
              <a:buNone/>
            </a:pPr>
            <a:r>
              <a:rPr lang="en-US" dirty="0"/>
              <a:t>&lt;a </a:t>
            </a:r>
            <a:r>
              <a:rPr lang="en-US" dirty="0" err="1"/>
              <a:t>href</a:t>
            </a:r>
            <a:r>
              <a:rPr lang="en-US" dirty="0"/>
              <a:t>=“www.google.com” &gt; Link to Google &lt;/a&gt;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it-IT" dirty="0"/>
              <a:t>&lt;ol type="1"&gt;</a:t>
            </a:r>
          </a:p>
          <a:p>
            <a:pPr marL="457200" lvl="1" indent="0">
              <a:buNone/>
            </a:pPr>
            <a:r>
              <a:rPr lang="it-IT" dirty="0"/>
              <a:t>   &lt;li&gt;item 1&lt;/li&gt;</a:t>
            </a:r>
          </a:p>
          <a:p>
            <a:pPr marL="457200" lvl="1" indent="0">
              <a:buNone/>
            </a:pPr>
            <a:r>
              <a:rPr lang="it-IT" dirty="0"/>
              <a:t>   &lt;li&gt;item 2&lt;/li&gt;</a:t>
            </a:r>
          </a:p>
          <a:p>
            <a:pPr marL="457200" lvl="1" indent="0">
              <a:buNone/>
            </a:pPr>
            <a:r>
              <a:rPr lang="it-IT" dirty="0"/>
              <a:t>   &lt;li&gt;item 3&lt;/li&gt;</a:t>
            </a:r>
          </a:p>
          <a:p>
            <a:pPr marL="457200" lvl="1" indent="0">
              <a:buNone/>
            </a:pPr>
            <a:r>
              <a:rPr lang="it-IT" dirty="0"/>
              <a:t>&lt;/ol&gt;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052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BE240-BEDD-600C-3ABD-3ADE85167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-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AEC01-8F2F-A6EA-BA18-D7F90B8A2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Ordered Lists &lt;</a:t>
            </a:r>
            <a:r>
              <a:rPr lang="en-US" dirty="0" err="1"/>
              <a:t>ol</a:t>
            </a:r>
            <a:r>
              <a:rPr lang="en-US" dirty="0"/>
              <a:t>&gt; &lt;/</a:t>
            </a:r>
            <a:r>
              <a:rPr lang="en-US" dirty="0" err="1"/>
              <a:t>ol</a:t>
            </a:r>
            <a:r>
              <a:rPr lang="en-US" dirty="0"/>
              <a:t>&gt;</a:t>
            </a:r>
          </a:p>
          <a:p>
            <a:r>
              <a:rPr lang="en-US" dirty="0"/>
              <a:t>Unordered Lists &lt;ul&gt; &lt;/ul&gt;</a:t>
            </a:r>
          </a:p>
          <a:p>
            <a:r>
              <a:rPr lang="en-US" dirty="0"/>
              <a:t>Both lists have list items &lt;li&gt; &lt;/li&gt;</a:t>
            </a:r>
          </a:p>
          <a:p>
            <a:r>
              <a:rPr lang="en-US" dirty="0"/>
              <a:t>Both lists have attribute called type</a:t>
            </a:r>
          </a:p>
          <a:p>
            <a:r>
              <a:rPr lang="en-US" dirty="0"/>
              <a:t>Both lists can be nested</a:t>
            </a:r>
          </a:p>
        </p:txBody>
      </p:sp>
    </p:spTree>
    <p:extLst>
      <p:ext uri="{BB962C8B-B14F-4D97-AF65-F5344CB8AC3E}">
        <p14:creationId xmlns:p14="http://schemas.microsoft.com/office/powerpoint/2010/main" val="3980540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CA691-53DE-15CB-921D-44CD3B293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-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EE608-6D8D-A1F4-87EC-CDCA33695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table creates an excel style 2D grid, with header, footer and rows of data</a:t>
            </a:r>
          </a:p>
          <a:p>
            <a:r>
              <a:rPr lang="en-US" dirty="0"/>
              <a:t>Table &lt;table&gt; &lt;/table&gt;</a:t>
            </a:r>
          </a:p>
          <a:p>
            <a:r>
              <a:rPr lang="en-US" dirty="0"/>
              <a:t>Table row &lt;tr&gt; &lt;/tr&gt;</a:t>
            </a:r>
          </a:p>
          <a:p>
            <a:r>
              <a:rPr lang="en-US" dirty="0"/>
              <a:t>Table header &lt;</a:t>
            </a:r>
            <a:r>
              <a:rPr lang="en-US" dirty="0" err="1"/>
              <a:t>th</a:t>
            </a:r>
            <a:r>
              <a:rPr lang="en-US" dirty="0"/>
              <a:t>&gt; &lt;/</a:t>
            </a:r>
            <a:r>
              <a:rPr lang="en-US" dirty="0" err="1"/>
              <a:t>th</a:t>
            </a:r>
            <a:r>
              <a:rPr lang="en-US" dirty="0"/>
              <a:t>&gt;</a:t>
            </a:r>
          </a:p>
          <a:p>
            <a:r>
              <a:rPr lang="en-US" dirty="0"/>
              <a:t>Table data &lt;td&gt; &lt;/td&gt;</a:t>
            </a:r>
          </a:p>
          <a:p>
            <a:pPr lvl="1"/>
            <a:r>
              <a:rPr lang="en-US" dirty="0"/>
              <a:t>Attributes</a:t>
            </a:r>
          </a:p>
          <a:p>
            <a:pPr lvl="2"/>
            <a:r>
              <a:rPr lang="en-US" dirty="0" err="1"/>
              <a:t>colspan</a:t>
            </a:r>
            <a:r>
              <a:rPr lang="en-US" dirty="0"/>
              <a:t> and </a:t>
            </a:r>
            <a:r>
              <a:rPr lang="en-US" dirty="0" err="1"/>
              <a:t>rowspan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678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0F918-9B1F-DE68-A5DE-E59AF4C60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- Images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C0DDA-7E5B-10F8-734D-67FC09D99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Void HTML element</a:t>
            </a:r>
          </a:p>
          <a:p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en-US" dirty="0"/>
              <a:t>&gt;</a:t>
            </a:r>
          </a:p>
          <a:p>
            <a:pPr lvl="1"/>
            <a:r>
              <a:rPr lang="en-US" dirty="0"/>
              <a:t>Attributes</a:t>
            </a:r>
          </a:p>
          <a:p>
            <a:pPr lvl="2"/>
            <a:r>
              <a:rPr lang="en-US" dirty="0" err="1"/>
              <a:t>src</a:t>
            </a:r>
            <a:r>
              <a:rPr lang="en-US" dirty="0"/>
              <a:t> – the path to the image</a:t>
            </a:r>
          </a:p>
          <a:p>
            <a:pPr lvl="2"/>
            <a:r>
              <a:rPr lang="en-US" dirty="0"/>
              <a:t>alt – the alternative if image path is broken</a:t>
            </a:r>
          </a:p>
          <a:p>
            <a:pPr lvl="2"/>
            <a:r>
              <a:rPr lang="en-US" dirty="0"/>
              <a:t>width </a:t>
            </a:r>
          </a:p>
          <a:p>
            <a:pPr lvl="2"/>
            <a:r>
              <a:rPr lang="en-US" dirty="0"/>
              <a:t>height</a:t>
            </a:r>
          </a:p>
          <a:p>
            <a:r>
              <a:rPr lang="en-US" dirty="0"/>
              <a:t>Favicon is served using &lt;link&gt; </a:t>
            </a:r>
          </a:p>
        </p:txBody>
      </p:sp>
    </p:spTree>
    <p:extLst>
      <p:ext uri="{BB962C8B-B14F-4D97-AF65-F5344CB8AC3E}">
        <p14:creationId xmlns:p14="http://schemas.microsoft.com/office/powerpoint/2010/main" val="1971657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454C8-B2C9-1BD1-46BB-1844BFE24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-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2781E-7001-C8DC-99CF-D4682D22F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Anchor element</a:t>
            </a:r>
          </a:p>
          <a:p>
            <a:r>
              <a:rPr lang="en-US" dirty="0"/>
              <a:t>&lt;a&gt; &lt;/a&gt;</a:t>
            </a:r>
          </a:p>
          <a:p>
            <a:pPr lvl="1"/>
            <a:r>
              <a:rPr lang="en-US" dirty="0"/>
              <a:t>Attributes:</a:t>
            </a:r>
          </a:p>
          <a:p>
            <a:pPr lvl="2"/>
            <a:r>
              <a:rPr lang="en-US" dirty="0" err="1"/>
              <a:t>href</a:t>
            </a:r>
            <a:r>
              <a:rPr lang="en-US" dirty="0"/>
              <a:t> : use to link to a file, webpage, part of webpage or send an email</a:t>
            </a:r>
          </a:p>
        </p:txBody>
      </p:sp>
    </p:spTree>
    <p:extLst>
      <p:ext uri="{BB962C8B-B14F-4D97-AF65-F5344CB8AC3E}">
        <p14:creationId xmlns:p14="http://schemas.microsoft.com/office/powerpoint/2010/main" val="771854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28C25-5BA0-C3AE-BA25-2004E85A2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- Containers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24CEA-01EE-B45A-E7C0-F80285B47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/>
              <a:t>Block Containers</a:t>
            </a:r>
          </a:p>
          <a:p>
            <a:pPr lvl="1"/>
            <a:r>
              <a:rPr lang="en-US" dirty="0"/>
              <a:t>&lt;div&gt; &lt;/div&gt;</a:t>
            </a:r>
          </a:p>
          <a:p>
            <a:pPr lvl="1"/>
            <a:r>
              <a:rPr lang="en-US" dirty="0"/>
              <a:t>&lt;section&gt; &lt;/section&gt;</a:t>
            </a:r>
          </a:p>
          <a:p>
            <a:pPr lvl="1"/>
            <a:r>
              <a:rPr lang="en-US" dirty="0"/>
              <a:t>&lt;article&gt; &lt;/article&gt;</a:t>
            </a:r>
          </a:p>
          <a:p>
            <a:pPr lvl="1"/>
            <a:r>
              <a:rPr lang="en-US" dirty="0"/>
              <a:t>&lt;main&gt; &lt;/main&gt;</a:t>
            </a:r>
          </a:p>
          <a:p>
            <a:pPr lvl="1"/>
            <a:r>
              <a:rPr lang="en-US" dirty="0"/>
              <a:t>&lt;aside&gt; &lt;/aside&gt;</a:t>
            </a:r>
          </a:p>
          <a:p>
            <a:pPr lvl="1"/>
            <a:r>
              <a:rPr lang="en-US" dirty="0"/>
              <a:t>&lt;address&gt; &lt;/address&gt;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6B43824-E1A9-4825-C4AC-9FEFD5B6FD72}"/>
              </a:ext>
            </a:extLst>
          </p:cNvPr>
          <p:cNvSpPr txBox="1">
            <a:spLocks/>
          </p:cNvSpPr>
          <p:nvPr/>
        </p:nvSpPr>
        <p:spPr>
          <a:xfrm>
            <a:off x="6811197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Inline Containers</a:t>
            </a:r>
          </a:p>
          <a:p>
            <a:pPr lvl="1"/>
            <a:r>
              <a:rPr lang="en-US" dirty="0"/>
              <a:t>&lt;span&gt; &lt;/span&gt;</a:t>
            </a:r>
          </a:p>
          <a:p>
            <a:pPr lvl="1"/>
            <a:r>
              <a:rPr lang="en-US" dirty="0"/>
              <a:t>&lt;a&gt; &lt;/a&gt;</a:t>
            </a:r>
          </a:p>
          <a:p>
            <a:pPr lvl="1"/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en-US" dirty="0"/>
              <a:t>&gt;</a:t>
            </a:r>
          </a:p>
          <a:p>
            <a:pPr lvl="1"/>
            <a:r>
              <a:rPr lang="en-US" dirty="0"/>
              <a:t>&lt;label&gt; &lt;/label&gt;</a:t>
            </a:r>
          </a:p>
          <a:p>
            <a:pPr lvl="1"/>
            <a:r>
              <a:rPr lang="en-US" dirty="0"/>
              <a:t>&lt;strong&gt; &lt;/strong&gt;</a:t>
            </a:r>
          </a:p>
          <a:p>
            <a:pPr lvl="1"/>
            <a:r>
              <a:rPr lang="en-US" dirty="0"/>
              <a:t>&lt;</a:t>
            </a:r>
            <a:r>
              <a:rPr lang="en-US" dirty="0" err="1"/>
              <a:t>em</a:t>
            </a:r>
            <a:r>
              <a:rPr lang="en-US" dirty="0"/>
              <a:t>&gt; &lt;/</a:t>
            </a:r>
            <a:r>
              <a:rPr lang="en-US" dirty="0" err="1"/>
              <a:t>em</a:t>
            </a:r>
            <a:r>
              <a:rPr lang="en-US" dirty="0"/>
              <a:t>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065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111F4-4D99-63F6-0DC8-76C2B4277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- Forms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42575-436B-29F2-F786-8DBE635E2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Forms allow communication for the browser with the server</a:t>
            </a:r>
          </a:p>
          <a:p>
            <a:r>
              <a:rPr lang="en-US" dirty="0"/>
              <a:t>For now, forms will be dummy (make them work later)</a:t>
            </a:r>
          </a:p>
          <a:p>
            <a:r>
              <a:rPr lang="en-US" dirty="0"/>
              <a:t>&lt;form&gt; &lt;/form&gt;</a:t>
            </a:r>
          </a:p>
          <a:p>
            <a:pPr lvl="1"/>
            <a:r>
              <a:rPr lang="en-US" dirty="0"/>
              <a:t>Attributes</a:t>
            </a:r>
          </a:p>
          <a:p>
            <a:pPr lvl="2"/>
            <a:r>
              <a:rPr lang="en-US" dirty="0"/>
              <a:t>action – the URL where data should be sent in the server</a:t>
            </a:r>
          </a:p>
          <a:p>
            <a:pPr lvl="2"/>
            <a:r>
              <a:rPr lang="en-US" dirty="0"/>
              <a:t>method – only two values GET or POST</a:t>
            </a:r>
          </a:p>
          <a:p>
            <a:pPr lvl="3"/>
            <a:r>
              <a:rPr lang="en-US" dirty="0"/>
              <a:t>GET – attaches the data in the URL</a:t>
            </a:r>
          </a:p>
          <a:p>
            <a:pPr lvl="3"/>
            <a:r>
              <a:rPr lang="en-US" dirty="0"/>
              <a:t>POST – attaches the data in the body of the request</a:t>
            </a:r>
          </a:p>
          <a:p>
            <a:r>
              <a:rPr lang="en-US" dirty="0"/>
              <a:t>&lt;label&gt; &lt;/label&gt;</a:t>
            </a:r>
          </a:p>
          <a:p>
            <a:r>
              <a:rPr lang="en-US" dirty="0"/>
              <a:t>&lt;input&gt; &lt;/input&gt;</a:t>
            </a:r>
          </a:p>
          <a:p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536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6408C-3777-3E26-D6DF-A6E7081A9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– Forms </a:t>
            </a:r>
            <a:r>
              <a:rPr lang="en-US" dirty="0" err="1"/>
              <a:t>Con’t</a:t>
            </a:r>
            <a:r>
              <a:rPr lang="en-US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26C01-E5B1-52FB-E9B6-750F0EADC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Label elements identity/describe the input field</a:t>
            </a:r>
          </a:p>
          <a:p>
            <a:pPr lvl="1"/>
            <a:r>
              <a:rPr lang="en-US" dirty="0"/>
              <a:t>Attributes:</a:t>
            </a:r>
          </a:p>
          <a:p>
            <a:pPr lvl="2"/>
            <a:r>
              <a:rPr lang="en-US" dirty="0"/>
              <a:t>for – identifies which input field it belongs</a:t>
            </a:r>
          </a:p>
          <a:p>
            <a:pPr lvl="3"/>
            <a:r>
              <a:rPr lang="en-US" dirty="0"/>
              <a:t>The for-value has to match input-id</a:t>
            </a:r>
          </a:p>
          <a:p>
            <a:r>
              <a:rPr lang="en-US" dirty="0"/>
              <a:t>Input creates an interactive element</a:t>
            </a:r>
          </a:p>
          <a:p>
            <a:pPr lvl="1"/>
            <a:r>
              <a:rPr lang="en-US" dirty="0"/>
              <a:t>Attributes:</a:t>
            </a:r>
          </a:p>
          <a:p>
            <a:pPr lvl="2"/>
            <a:r>
              <a:rPr lang="en-US" dirty="0"/>
              <a:t>type – widget type: password, text, submit button</a:t>
            </a:r>
          </a:p>
          <a:p>
            <a:pPr lvl="2"/>
            <a:r>
              <a:rPr lang="en-US" dirty="0"/>
              <a:t>name – the name of the variable that hold the input value</a:t>
            </a:r>
          </a:p>
          <a:p>
            <a:pPr lvl="2"/>
            <a:r>
              <a:rPr lang="en-US" dirty="0"/>
              <a:t>id </a:t>
            </a:r>
          </a:p>
          <a:p>
            <a:pPr lvl="2"/>
            <a:r>
              <a:rPr lang="en-US" dirty="0"/>
              <a:t>placeholder – a placeholder text for context</a:t>
            </a:r>
          </a:p>
          <a:p>
            <a:pPr lvl="2"/>
            <a:r>
              <a:rPr lang="en-US" dirty="0"/>
              <a:t>value – a default value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063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DF34F-522F-D8F1-B863-B9E1CAACC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DCD16-B197-66F3-D4EA-F6BCF1723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Comments go inside &lt;!-- </a:t>
            </a:r>
            <a:r>
              <a:rPr lang="en-US" i="1" dirty="0"/>
              <a:t>comment here </a:t>
            </a:r>
            <a:r>
              <a:rPr lang="en-US" dirty="0"/>
              <a:t>--&gt;</a:t>
            </a:r>
          </a:p>
        </p:txBody>
      </p:sp>
    </p:spTree>
    <p:extLst>
      <p:ext uri="{BB962C8B-B14F-4D97-AF65-F5344CB8AC3E}">
        <p14:creationId xmlns:p14="http://schemas.microsoft.com/office/powerpoint/2010/main" val="3255152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5EF33-3126-F091-E40D-170D1D9AF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1 Advice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2395B-3DDE-8128-7B72-301DEAE32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Plan the content and collect all the resources</a:t>
            </a:r>
          </a:p>
          <a:p>
            <a:r>
              <a:rPr lang="en-US" dirty="0"/>
              <a:t>Use semantic HTML elements</a:t>
            </a:r>
          </a:p>
          <a:p>
            <a:r>
              <a:rPr lang="en-US" dirty="0"/>
              <a:t>Keep HTML doc organized</a:t>
            </a:r>
          </a:p>
          <a:p>
            <a:r>
              <a:rPr lang="en-US" dirty="0"/>
              <a:t>Group and reuse components</a:t>
            </a:r>
          </a:p>
          <a:p>
            <a:r>
              <a:rPr lang="en-US" dirty="0"/>
              <a:t>Comment your code</a:t>
            </a:r>
          </a:p>
        </p:txBody>
      </p:sp>
    </p:spTree>
    <p:extLst>
      <p:ext uri="{BB962C8B-B14F-4D97-AF65-F5344CB8AC3E}">
        <p14:creationId xmlns:p14="http://schemas.microsoft.com/office/powerpoint/2010/main" val="3034425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</TotalTime>
  <Words>821</Words>
  <Application>Microsoft Office PowerPoint</Application>
  <PresentationFormat>Widescreen</PresentationFormat>
  <Paragraphs>137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Office Theme</vt:lpstr>
      <vt:lpstr>1_Office Theme</vt:lpstr>
      <vt:lpstr>WebDev</vt:lpstr>
      <vt:lpstr>Webpage Composition</vt:lpstr>
      <vt:lpstr>Intro to HTML</vt:lpstr>
      <vt:lpstr>Popular (Normal) Tags</vt:lpstr>
      <vt:lpstr>Popular Void Elements</vt:lpstr>
      <vt:lpstr>HTML Attributes</vt:lpstr>
      <vt:lpstr>HTML - Lists</vt:lpstr>
      <vt:lpstr>HTML - Tables</vt:lpstr>
      <vt:lpstr>HTML - Images</vt:lpstr>
      <vt:lpstr>HTML - Links</vt:lpstr>
      <vt:lpstr>HTML - Containers</vt:lpstr>
      <vt:lpstr>HTML - Forms</vt:lpstr>
      <vt:lpstr>HTML – Forms Con’t.</vt:lpstr>
      <vt:lpstr>HTML Comments</vt:lpstr>
      <vt:lpstr>Project 1 Advice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Nikola Baci</dc:creator>
  <cp:lastModifiedBy>Nikola Baci</cp:lastModifiedBy>
  <cp:revision>5</cp:revision>
  <dcterms:created xsi:type="dcterms:W3CDTF">2025-07-07T15:37:20Z</dcterms:created>
  <dcterms:modified xsi:type="dcterms:W3CDTF">2025-09-02T11:32:37Z</dcterms:modified>
</cp:coreProperties>
</file>