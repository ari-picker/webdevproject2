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61" r:id="rId4"/>
    <p:sldId id="257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31D597-F44C-4452-8911-21BB593C1AF1}" v="1" dt="2025-09-08T20:45:50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Baci" userId="473fddf6-354f-4a55-bb0c-489699c5b784" providerId="ADAL" clId="{955CBDAC-7F7E-42A5-B2A1-D806DB2DB19E}"/>
    <pc:docChg chg="undo custSel modSld">
      <pc:chgData name="Nikola Baci" userId="473fddf6-354f-4a55-bb0c-489699c5b784" providerId="ADAL" clId="{955CBDAC-7F7E-42A5-B2A1-D806DB2DB19E}" dt="2025-09-08T20:47:27.625" v="10" actId="167"/>
      <pc:docMkLst>
        <pc:docMk/>
      </pc:docMkLst>
      <pc:sldChg chg="modSp mod">
        <pc:chgData name="Nikola Baci" userId="473fddf6-354f-4a55-bb0c-489699c5b784" providerId="ADAL" clId="{955CBDAC-7F7E-42A5-B2A1-D806DB2DB19E}" dt="2025-09-08T20:45:51.113" v="0" actId="27636"/>
        <pc:sldMkLst>
          <pc:docMk/>
          <pc:sldMk cId="4242950879" sldId="271"/>
        </pc:sldMkLst>
        <pc:spChg chg="mod">
          <ac:chgData name="Nikola Baci" userId="473fddf6-354f-4a55-bb0c-489699c5b784" providerId="ADAL" clId="{955CBDAC-7F7E-42A5-B2A1-D806DB2DB19E}" dt="2025-09-08T20:45:51.113" v="0" actId="27636"/>
          <ac:spMkLst>
            <pc:docMk/>
            <pc:sldMk cId="4242950879" sldId="271"/>
            <ac:spMk id="3" creationId="{8E0D5FA4-7F8E-6892-DCE1-7227E3A7DA0F}"/>
          </ac:spMkLst>
        </pc:spChg>
      </pc:sldChg>
      <pc:sldChg chg="modSp mod">
        <pc:chgData name="Nikola Baci" userId="473fddf6-354f-4a55-bb0c-489699c5b784" providerId="ADAL" clId="{955CBDAC-7F7E-42A5-B2A1-D806DB2DB19E}" dt="2025-09-08T20:47:27.625" v="10" actId="167"/>
        <pc:sldMkLst>
          <pc:docMk/>
          <pc:sldMk cId="1567597656" sldId="278"/>
        </pc:sldMkLst>
        <pc:spChg chg="ord">
          <ac:chgData name="Nikola Baci" userId="473fddf6-354f-4a55-bb0c-489699c5b784" providerId="ADAL" clId="{955CBDAC-7F7E-42A5-B2A1-D806DB2DB19E}" dt="2025-09-08T20:47:27.625" v="10" actId="167"/>
          <ac:spMkLst>
            <pc:docMk/>
            <pc:sldMk cId="1567597656" sldId="278"/>
            <ac:spMk id="4" creationId="{99B84A66-4985-FBF4-6D1C-8D49C996CFE4}"/>
          </ac:spMkLst>
        </pc:spChg>
      </pc:sldChg>
      <pc:sldChg chg="modSp mod">
        <pc:chgData name="Nikola Baci" userId="473fddf6-354f-4a55-bb0c-489699c5b784" providerId="ADAL" clId="{955CBDAC-7F7E-42A5-B2A1-D806DB2DB19E}" dt="2025-09-08T20:45:51.150" v="1" actId="27636"/>
        <pc:sldMkLst>
          <pc:docMk/>
          <pc:sldMk cId="1038950870" sldId="280"/>
        </pc:sldMkLst>
        <pc:spChg chg="mod">
          <ac:chgData name="Nikola Baci" userId="473fddf6-354f-4a55-bb0c-489699c5b784" providerId="ADAL" clId="{955CBDAC-7F7E-42A5-B2A1-D806DB2DB19E}" dt="2025-09-08T20:45:51.150" v="1" actId="27636"/>
          <ac:spMkLst>
            <pc:docMk/>
            <pc:sldMk cId="1038950870" sldId="280"/>
            <ac:spMk id="3" creationId="{15AAFF5A-F391-06B7-C847-46E98962847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7E8E-54D9-4838-99C2-CA3920E227A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D5F54-43B9-4C9B-B7EC-0A0B581F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A91C-7B33-39DF-3E5D-E0860E375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DBEC5-BA50-04E1-7CD2-493F9DE1B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0A04-CD10-A4BC-B6E1-449C9838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23D4-F178-9FCC-7C6D-0080BEA3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D934-C315-D2E2-3BFF-2EE43453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3457-769A-7373-20E5-EA62FAE2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412C-FFE1-6EE4-6B57-C2892A76D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73ED-140B-1426-B0E2-47CE7B22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FFE7-D571-E8F3-B64F-900654C8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7AE5-9F96-4A67-16C8-095610C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9B5D-7B8C-E5B7-0E67-BCFB5CD3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F3AEA-A56E-0A26-AB1A-0F071D77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EC55-A8F1-7CBE-4ADB-FC2B4370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58FEC-B222-9CFA-2615-CDF277C2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A9A7-EA15-9774-AFA9-AE948A7F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BD36-3851-2534-4111-E7EBF07C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42F9-9423-B84D-89F8-FD11E5BBD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C9037-4C65-3A0D-E6FD-AA59D867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CB37-668C-D30D-15C7-81D09E24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6F6F3-0E10-19F0-A83D-020012A5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D5BD6-91EE-3828-6D5D-3F2C5BC4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4043-6CD4-A21A-8B05-2D63092B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CEFFA-6AF1-D9A5-D7C7-1E2C8172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525DB-9901-EF23-54FE-47D04161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E6C0-78A1-881A-75EC-1915811AB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A7450-955C-A85F-F8A4-5559A6C95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B9D76-B441-9EEE-A2CA-8BFC23B8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1D361-47ED-ADC5-BFE8-B366CC45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F0289-228B-5630-1CCA-C65E062C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9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CD4E-53FB-359A-01E4-82494F8A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42E3A-B099-7EC1-CECE-4F0AE62B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942DD-94FA-64AE-C145-F4C793D2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112CE-2B60-35F3-2A49-2F197C2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9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84135-D17A-CE12-AA75-AAFBACA2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E7CEF-2755-42F5-B821-8F474445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E272-6DD9-1E38-ABCD-6FFB360D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839E-2BC4-78F8-CF27-135A327B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0251-616B-C04D-2D99-56D18B17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C5DD3-CB2E-B6F5-6379-5395CAA5B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38DA3-7989-E50C-57FF-EEAFB5EE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61913-75BD-8519-F835-741D214A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2A922-4969-D97D-F404-3A68DB5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4D98-1D5D-45C2-7001-E8EE7685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A8314-F02A-FA07-1204-DE6B17D7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F2BF-F03C-A113-0FF0-D75E345ED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F4A24-8CD8-6B38-B905-08D4EA33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59FFB-BF91-C14A-A966-7547EE07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7B24-85E0-1E3D-3562-39B70C0A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6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1189-506D-6096-C277-CB29009C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D110-CEC0-646D-883F-2ABC2C658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0241E-D288-7DEA-DE85-A2568C1E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E689-08FA-2D12-32AA-7E5F6361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96B4A-A3B1-1127-0AAB-D6736720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0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CCE07-9194-6642-60FB-F72DEE1DD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E8DB7-4EF2-6ED5-7AF4-3C9A74AEF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16E1-B4A2-7E97-9E32-3A5EEEA2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7F8C-2977-E0D5-96A8-D8B66916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D8D4-BCA2-F002-2B09-BD2968B6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2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C7D-4652-A1BE-7753-67CC5BD2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6E38-C721-B14C-19CD-39F40A39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124-A8B2-D023-3243-78322774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94A7-CEA5-262E-16C9-4002E7A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254E-EC4B-1A06-429A-998C8381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4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B23-4C5A-E2CC-570C-DA846FF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2F0B-7057-4180-2CA2-6B8385BF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5C6-D6E3-4A5E-7542-2E2DEFE8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A094-BBF5-5D7F-8CBB-4A224319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0E9B-9F46-55C6-386E-6F36B77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42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415-2E6A-BF91-784D-2932401E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2525-8574-DB76-9317-A5E70038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06DF-ACD0-0FB8-DC1C-E73A23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6A50-2402-FC01-2B3E-181494B6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D2BE-655B-4925-2F8F-A217FDE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6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157-7FE8-8758-6EE9-D969D2B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9B06-5CE6-8D70-47D7-0BF69B33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B4C7-E1B5-72AB-E51D-B48DC2C8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C130-059C-400A-4293-6BFCDD5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23FC-D624-587D-5A29-3D1BA332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6FE0-952A-8720-8F79-FE953128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63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34C-BE04-E0D5-4B9F-3CBDB65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3566-BB1F-9774-73EB-F8BB0E0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1E10-C95E-9890-2625-5D273B4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E44C0-18DA-9471-FFE2-720B9E75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C173-A1EB-FEED-03FF-3A844C585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4E637-1939-FEB5-3D9C-37743933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EF853-E189-128C-028B-905A5274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BEAD5-B7A9-2E36-A963-1775DC5D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6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85B-F05E-660A-388F-5054703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2AAB-3544-A86E-357A-F2520583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D336-4038-3A3A-12B9-42D591B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416A-336D-E1BE-A3A3-B1EE384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1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13B87-54C7-D99E-81D7-132E513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D63D-6043-656B-657F-526F372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E4C-FF96-4B6C-8A43-C72CD00B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3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5FC6-C900-7C6D-2E57-65E5272F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838-3679-641B-42A9-D5D15820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BCF1-D868-2227-6042-583A21A2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4760-FEBC-A79B-0016-CD566704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36DC-BCD8-5C01-5F7A-9F5E7D70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B0C5-04D4-0FA0-D9C2-781020EE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51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62E3-E446-6683-C852-C39EAC57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E7D-2372-E259-DC6C-68A2C8515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8A18-8CC8-635C-277E-7F4043FB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377E8-07FB-67DF-654F-71C10977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DA53-1132-8FAF-3B87-0E6E8A21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0D54-27DF-328E-F669-DAC7FB35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6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34AC-0BBD-599C-A282-89347E6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E6DC0-6E71-EB90-6BAD-7C38AF8C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EC91-728A-0A9A-9FB1-7DA39D77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DD4A-C0C5-1444-C9CB-BC66E9BE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4921-6539-195D-BB47-3824C23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5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9147-1DAD-616B-7E4E-2F514FA1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4AD4-4514-1002-1AB2-38AAC3F7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8C59-58F4-65E1-49B6-222A434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66E4-4BFE-F3FA-FE3A-6A8C079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2C5C-896B-3E18-BDEC-F645B22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ECB6-4303-BD3C-2508-64B79CAC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13D1E-7E47-B8C2-A4B6-E9ED3C93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A615-98E3-E360-063F-43FBCD28C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BB9D9-658B-4236-B589-0C31CFC544F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7F63-2930-29C4-A055-B6036A40F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FD834-41C3-00FE-5F33-72399E28E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4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D95C-4E7F-E2A8-AE96-445EB6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55E4-2524-BA9A-ED0B-9C3CB3AA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C39C-F36E-ACA9-434D-1CF43B7A9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84B2-7580-4D8F-98DE-2B020D9878E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B57B-53F4-EB03-D483-10390F90B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8D6-671C-DFD6-7B5E-47060CA6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henounproject.com/graphic-design-styles/" TargetMode="External"/><Relationship Id="rId2" Type="http://schemas.openxmlformats.org/officeDocument/2006/relationships/hyperlink" Target="https://looka.com/blog/graphic-design-styles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99designs.com/designer-resource-center/visual-design-styles" TargetMode="External"/><Relationship Id="rId4" Type="http://schemas.openxmlformats.org/officeDocument/2006/relationships/hyperlink" Target="https://www.shopify.com/blog/graphic-design-sty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A067-1E9A-4220-E61F-81C935667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WebDev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1E830-8539-8A39-8901-7969E54A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111845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0E09-76E8-D86D-9D4C-5B29FE81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Webpage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CAAA-F080-BAF6-8FD0-378166EA4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webpage is made of 3 file types:</a:t>
            </a:r>
          </a:p>
          <a:p>
            <a:pPr lvl="1"/>
            <a:r>
              <a:rPr lang="en-US" dirty="0"/>
              <a:t>HTML – structure and content (skeleton)</a:t>
            </a:r>
          </a:p>
          <a:p>
            <a:pPr lvl="1"/>
            <a:r>
              <a:rPr lang="en-US" dirty="0"/>
              <a:t>CSS – layout and design (appearance) </a:t>
            </a:r>
          </a:p>
          <a:p>
            <a:pPr lvl="1"/>
            <a:r>
              <a:rPr lang="en-US" dirty="0"/>
              <a:t>JS – functionality and interactivity (brain)</a:t>
            </a:r>
          </a:p>
        </p:txBody>
      </p:sp>
    </p:spTree>
    <p:extLst>
      <p:ext uri="{BB962C8B-B14F-4D97-AF65-F5344CB8AC3E}">
        <p14:creationId xmlns:p14="http://schemas.microsoft.com/office/powerpoint/2010/main" val="113112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5D7E-C8FD-275F-4803-833A76D4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0111-76DF-698F-FA86-AE680FCA2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CSS – Cascading Style Sheets</a:t>
            </a:r>
          </a:p>
          <a:p>
            <a:r>
              <a:rPr lang="en-US" dirty="0"/>
              <a:t>Used to determine how a </a:t>
            </a:r>
            <a:r>
              <a:rPr lang="en-US" dirty="0" err="1"/>
              <a:t>wabpage</a:t>
            </a:r>
            <a:r>
              <a:rPr lang="en-US" dirty="0"/>
              <a:t> is rendered on screen or printed</a:t>
            </a:r>
          </a:p>
          <a:p>
            <a:r>
              <a:rPr lang="en-US" dirty="0"/>
              <a:t>A CSS rule example:</a:t>
            </a:r>
          </a:p>
          <a:p>
            <a:pPr lvl="2"/>
            <a:endParaRPr lang="en-US" dirty="0"/>
          </a:p>
        </p:txBody>
      </p:sp>
      <p:pic>
        <p:nvPicPr>
          <p:cNvPr id="1028" name="Picture 4" descr="Diagram of a CSS rule. 'span' is the selector, 'font-size' is a property, '16px' is a property value.  A second declaration exists: 'color: green;'.  Two declarations form the declarations block.">
            <a:extLst>
              <a:ext uri="{FF2B5EF4-FFF2-40B4-BE49-F238E27FC236}">
                <a16:creationId xmlns:a16="http://schemas.microsoft.com/office/drawing/2014/main" id="{1A59871E-C026-B9C5-AC3B-7C7875ED7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859" y="3943927"/>
            <a:ext cx="5602178" cy="2233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3288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E5E8-2EBF-323E-DA26-ECFA087D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5B2B7-CAFA-FE70-3602-89DE29A6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ways to incorporate CSS into HTML</a:t>
            </a:r>
          </a:p>
          <a:p>
            <a:pPr lvl="1"/>
            <a:r>
              <a:rPr lang="en-US" dirty="0"/>
              <a:t>inline : using the style attribute of HTML elements</a:t>
            </a:r>
          </a:p>
          <a:p>
            <a:pPr lvl="1"/>
            <a:r>
              <a:rPr lang="en-US" dirty="0"/>
              <a:t>embedded style : using the &lt;style&gt; &lt;/style&gt; element in the HTML head</a:t>
            </a:r>
          </a:p>
          <a:p>
            <a:pPr lvl="1"/>
            <a:r>
              <a:rPr lang="en-US" dirty="0"/>
              <a:t>external stylesheet : using &lt;link&gt; element to connect HTML to CSS file</a:t>
            </a:r>
          </a:p>
          <a:p>
            <a:r>
              <a:rPr lang="en-US" dirty="0"/>
              <a:t>Children elements inherit the parent’s style</a:t>
            </a:r>
          </a:p>
          <a:p>
            <a:pPr lvl="1"/>
            <a:r>
              <a:rPr lang="en-US" dirty="0"/>
              <a:t>Conflicts occur when:</a:t>
            </a:r>
          </a:p>
          <a:p>
            <a:pPr lvl="2"/>
            <a:r>
              <a:rPr lang="en-US" dirty="0"/>
              <a:t>Child element specifies a different style from parent element, in this case child’s style takes precedence</a:t>
            </a:r>
          </a:p>
          <a:p>
            <a:pPr lvl="2"/>
            <a:r>
              <a:rPr lang="en-US" dirty="0"/>
              <a:t>Element specifies a different inline style from external stylesheet, in this case the inline style takes precedence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560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DCD6-4DF4-DBDB-04FD-B30F21AF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Basic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D5FA4-7F8E-6892-DCE1-7227E3A7D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HTML element can be referred to by:</a:t>
            </a:r>
          </a:p>
          <a:p>
            <a:pPr lvl="1"/>
            <a:r>
              <a:rPr lang="en-US" dirty="0"/>
              <a:t>The tag name: header, footer, main, div, section, span, </a:t>
            </a:r>
            <a:r>
              <a:rPr lang="en-US" dirty="0" err="1"/>
              <a:t>img</a:t>
            </a:r>
            <a:endParaRPr lang="en-US" dirty="0"/>
          </a:p>
          <a:p>
            <a:pPr lvl="1"/>
            <a:r>
              <a:rPr lang="en-US" dirty="0"/>
              <a:t>The class name (aka group)</a:t>
            </a:r>
          </a:p>
          <a:p>
            <a:pPr lvl="1"/>
            <a:r>
              <a:rPr lang="en-US" dirty="0"/>
              <a:t>The id</a:t>
            </a:r>
          </a:p>
          <a:p>
            <a:r>
              <a:rPr lang="en-US" dirty="0"/>
              <a:t>CSS can use any of those, or a combination to target any element</a:t>
            </a:r>
          </a:p>
          <a:p>
            <a:pPr lvl="1"/>
            <a:r>
              <a:rPr lang="en-US" dirty="0"/>
              <a:t>Tag name: span { … }</a:t>
            </a:r>
          </a:p>
          <a:p>
            <a:pPr lvl="1"/>
            <a:r>
              <a:rPr lang="en-US" dirty="0" err="1"/>
              <a:t>Classname</a:t>
            </a:r>
            <a:r>
              <a:rPr lang="en-US" dirty="0"/>
              <a:t>: .</a:t>
            </a:r>
            <a:r>
              <a:rPr lang="en-US" dirty="0" err="1"/>
              <a:t>myGroup</a:t>
            </a:r>
            <a:r>
              <a:rPr lang="en-US" dirty="0"/>
              <a:t> { … }</a:t>
            </a:r>
          </a:p>
          <a:p>
            <a:pPr lvl="1"/>
            <a:r>
              <a:rPr lang="en-US" dirty="0"/>
              <a:t>ID: #specificId { … }</a:t>
            </a:r>
          </a:p>
          <a:p>
            <a:r>
              <a:rPr lang="en-US" dirty="0"/>
              <a:t>ID takes precedence over Class and Class takes precedence over tag</a:t>
            </a:r>
          </a:p>
        </p:txBody>
      </p:sp>
    </p:spTree>
    <p:extLst>
      <p:ext uri="{BB962C8B-B14F-4D97-AF65-F5344CB8AC3E}">
        <p14:creationId xmlns:p14="http://schemas.microsoft.com/office/powerpoint/2010/main" val="424295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9CED-BBBD-948D-645E-E28C26C2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Basic Selectors </a:t>
            </a:r>
            <a:r>
              <a:rPr lang="en-US" dirty="0" err="1"/>
              <a:t>Con’t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6F05D-7938-09E5-28DB-329F3B6DE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Descendant selectors used to style elements wrapped by other </a:t>
            </a:r>
            <a:r>
              <a:rPr lang="en-US" dirty="0" err="1"/>
              <a:t>elemente</a:t>
            </a:r>
            <a:endParaRPr lang="en-US" dirty="0"/>
          </a:p>
          <a:p>
            <a:pPr lvl="1"/>
            <a:r>
              <a:rPr lang="en-US" dirty="0"/>
              <a:t>main h1 { … } : means all h1 headers inside the main element</a:t>
            </a:r>
          </a:p>
          <a:p>
            <a:r>
              <a:rPr lang="en-US" dirty="0"/>
              <a:t>Pseudo-class selectors used to style elements based on user behavior or element metadata</a:t>
            </a:r>
          </a:p>
          <a:p>
            <a:pPr lvl="1"/>
            <a:r>
              <a:rPr lang="en-US" dirty="0" err="1"/>
              <a:t>element:disabled</a:t>
            </a:r>
            <a:r>
              <a:rPr lang="en-US" dirty="0"/>
              <a:t> { … }</a:t>
            </a:r>
          </a:p>
          <a:p>
            <a:pPr lvl="1"/>
            <a:r>
              <a:rPr lang="en-US" dirty="0" err="1"/>
              <a:t>element:hover</a:t>
            </a:r>
            <a:r>
              <a:rPr lang="en-US" dirty="0"/>
              <a:t> { … }</a:t>
            </a:r>
          </a:p>
          <a:p>
            <a:pPr lvl="1"/>
            <a:r>
              <a:rPr lang="en-US" dirty="0" err="1"/>
              <a:t>element:empty</a:t>
            </a:r>
            <a:r>
              <a:rPr lang="en-US" dirty="0"/>
              <a:t> { … }</a:t>
            </a:r>
          </a:p>
          <a:p>
            <a:pPr lvl="1"/>
            <a:r>
              <a:rPr lang="en-US" dirty="0" err="1"/>
              <a:t>element:nth-child</a:t>
            </a:r>
            <a:r>
              <a:rPr lang="en-US" dirty="0"/>
              <a:t>(n) { … }</a:t>
            </a:r>
          </a:p>
        </p:txBody>
      </p:sp>
    </p:spTree>
    <p:extLst>
      <p:ext uri="{BB962C8B-B14F-4D97-AF65-F5344CB8AC3E}">
        <p14:creationId xmlns:p14="http://schemas.microsoft.com/office/powerpoint/2010/main" val="32022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1AE7-BA7B-306E-514D-9EAED2D0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 </a:t>
            </a:r>
            <a:r>
              <a:rPr lang="en-US" dirty="0" err="1"/>
              <a:t>Con’t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0C066-74E9-059D-1F59-45DDC653E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Universal Selector : * { … }</a:t>
            </a:r>
          </a:p>
          <a:p>
            <a:r>
              <a:rPr lang="en-US" dirty="0"/>
              <a:t>Multiple Selectors: h1, h2 { … }</a:t>
            </a:r>
          </a:p>
          <a:p>
            <a:r>
              <a:rPr lang="en-US" dirty="0"/>
              <a:t>Direct Child Selector: p &gt; h1 { … }</a:t>
            </a:r>
          </a:p>
          <a:p>
            <a:r>
              <a:rPr lang="en-US" dirty="0"/>
              <a:t>Attribute Selector:</a:t>
            </a:r>
          </a:p>
          <a:p>
            <a:pPr lvl="1"/>
            <a:r>
              <a:rPr lang="en-US" dirty="0"/>
              <a:t>=: attribute has exact value </a:t>
            </a:r>
          </a:p>
          <a:p>
            <a:pPr lvl="1"/>
            <a:r>
              <a:rPr lang="en-US" dirty="0"/>
              <a:t>~=: attribute contains while word</a:t>
            </a:r>
          </a:p>
          <a:p>
            <a:pPr lvl="1"/>
            <a:r>
              <a:rPr lang="en-US" dirty="0"/>
              <a:t>^=: attribute begins with value</a:t>
            </a:r>
          </a:p>
        </p:txBody>
      </p:sp>
    </p:spTree>
    <p:extLst>
      <p:ext uri="{BB962C8B-B14F-4D97-AF65-F5344CB8AC3E}">
        <p14:creationId xmlns:p14="http://schemas.microsoft.com/office/powerpoint/2010/main" val="188968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A132-4021-AC85-FB61-4FDE1D20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CSS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5CF3B-B3D0-E6C3-830F-AB2FC2057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color: text color</a:t>
            </a:r>
          </a:p>
          <a:p>
            <a:r>
              <a:rPr lang="en-US" dirty="0"/>
              <a:t>background-color: background color of the HTML element</a:t>
            </a:r>
          </a:p>
          <a:p>
            <a:r>
              <a:rPr lang="en-US" dirty="0"/>
              <a:t>background-image</a:t>
            </a:r>
          </a:p>
          <a:p>
            <a:r>
              <a:rPr lang="en-US" dirty="0"/>
              <a:t>display: change the element display</a:t>
            </a:r>
          </a:p>
          <a:p>
            <a:pPr lvl="1"/>
            <a:r>
              <a:rPr lang="en-US" dirty="0"/>
              <a:t>Possible values: inline, block, none</a:t>
            </a:r>
          </a:p>
          <a:p>
            <a:r>
              <a:rPr lang="en-US" dirty="0"/>
              <a:t>Font property has several variations:</a:t>
            </a:r>
          </a:p>
          <a:p>
            <a:pPr lvl="1"/>
            <a:r>
              <a:rPr lang="en-US" dirty="0"/>
              <a:t>font-family, font-size, font-weight, font-style</a:t>
            </a:r>
          </a:p>
          <a:p>
            <a:r>
              <a:rPr lang="en-US" dirty="0"/>
              <a:t>Text property has several variations:</a:t>
            </a:r>
          </a:p>
          <a:p>
            <a:pPr lvl="1"/>
            <a:r>
              <a:rPr lang="en-US" dirty="0"/>
              <a:t>text-align, text-decoration, text-transform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41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5B59-DE66-6C86-C3D9-5D746A40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Box Model</a:t>
            </a:r>
          </a:p>
        </p:txBody>
      </p:sp>
      <p:pic>
        <p:nvPicPr>
          <p:cNvPr id="1026" name="Picture 2" descr="Box model showing nested boxes from outermost to innermost as margin, border, padding, content.">
            <a:extLst>
              <a:ext uri="{FF2B5EF4-FFF2-40B4-BE49-F238E27FC236}">
                <a16:creationId xmlns:a16="http://schemas.microsoft.com/office/drawing/2014/main" id="{F8A96C9F-482F-5CDB-21D2-A532324602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13" y="1826748"/>
            <a:ext cx="5513573" cy="373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58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7B13-B7C7-856D-3998-71CFF8A0C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Box Model Example</a:t>
            </a:r>
          </a:p>
        </p:txBody>
      </p:sp>
      <p:pic>
        <p:nvPicPr>
          <p:cNvPr id="2050" name="Picture 2" descr="Multi-Mat Metal Gallery Frame, Black Powder Coated, 8x10, Set of 6, West Elm">
            <a:extLst>
              <a:ext uri="{FF2B5EF4-FFF2-40B4-BE49-F238E27FC236}">
                <a16:creationId xmlns:a16="http://schemas.microsoft.com/office/drawing/2014/main" id="{92A0277C-5D30-131A-3983-5C38059A92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6D5A87-7A57-699C-4DF4-CD686CB6453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802780" y="3470253"/>
            <a:ext cx="0" cy="18610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1BFAD4-6D14-3E27-2D36-A8F2C748CB2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6182435" y="3997553"/>
            <a:ext cx="21092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DBE494-C2FF-018B-485B-3CC8605D9C7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6192361" y="3336050"/>
            <a:ext cx="21092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1621A7-C0F1-52F2-9012-F695A292287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698363" y="3601561"/>
            <a:ext cx="0" cy="22477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5298796-164A-6754-3434-EFE83842A8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5035" y="2572146"/>
            <a:ext cx="388567" cy="580739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1AC35-59DA-56FF-6548-F027B419A8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02391" y="2466909"/>
            <a:ext cx="460015" cy="664858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D94BF-6D6D-73D9-7AB6-E3CF16AA0C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72383" y="4004362"/>
            <a:ext cx="460015" cy="664858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06395A-D29F-1344-162E-2508C2508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97348" y="4184215"/>
            <a:ext cx="734018" cy="964300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9CBD38-4B36-00DB-12E8-EE91E33760E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028139" y="2036707"/>
            <a:ext cx="4259" cy="410844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6CF841-678B-BA82-E56D-C16AF4D94A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6446126" y="2819016"/>
            <a:ext cx="330571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2C2631-33AF-5F0D-100C-7725E4A45CF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030836" y="3157220"/>
            <a:ext cx="4259" cy="410844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E93EDF-80E3-7AC6-D657-1EF6C2E8A3E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262406" y="2819016"/>
            <a:ext cx="330571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C89A42-7FED-16E7-C84B-22C8F94FFBE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785290" y="2412003"/>
            <a:ext cx="17527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516178-D572-4D6B-C94E-30CBE0BEC67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4997348" y="2416579"/>
            <a:ext cx="18759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2F5145-06E5-1101-8599-ECE2E19E2AB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5400000">
            <a:off x="5494852" y="2154894"/>
            <a:ext cx="17527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A28894-16DD-3C52-DF96-3118DE25A6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5400000" flipH="1">
            <a:off x="5484117" y="2373111"/>
            <a:ext cx="18759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9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491C-4781-DC54-26D9-B05D8BAC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E0D1F-EF2E-0C74-D1C3-790BE081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Flexbox is a layout framework to control the position and behavior of the elements</a:t>
            </a:r>
          </a:p>
          <a:p>
            <a:r>
              <a:rPr lang="en-US" dirty="0"/>
              <a:t>Using flexbox you can manipulate the children elements of a container</a:t>
            </a:r>
          </a:p>
          <a:p>
            <a:pPr lvl="1"/>
            <a:r>
              <a:rPr lang="en-US" dirty="0"/>
              <a:t>The CSS property of the parent container should be set to flex</a:t>
            </a:r>
          </a:p>
          <a:p>
            <a:pPr lvl="2"/>
            <a:r>
              <a:rPr lang="en-US" dirty="0" err="1"/>
              <a:t>parnetContainer</a:t>
            </a:r>
            <a:r>
              <a:rPr lang="en-US" dirty="0"/>
              <a:t> { display: flex; }</a:t>
            </a:r>
          </a:p>
          <a:p>
            <a:r>
              <a:rPr lang="en-US" dirty="0"/>
              <a:t>Properties of a flex container:</a:t>
            </a:r>
          </a:p>
          <a:p>
            <a:pPr lvl="1"/>
            <a:r>
              <a:rPr lang="en-US" dirty="0"/>
              <a:t>flex-direction, gap, justify-content, align-items, flex-wrap</a:t>
            </a:r>
          </a:p>
        </p:txBody>
      </p:sp>
    </p:spTree>
    <p:extLst>
      <p:ext uri="{BB962C8B-B14F-4D97-AF65-F5344CB8AC3E}">
        <p14:creationId xmlns:p14="http://schemas.microsoft.com/office/powerpoint/2010/main" val="1492210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318CC-888A-3E79-3B9B-6F5DFCE2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flex-direction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C2E5C9-C114-7EBF-761E-E3653138BECA}"/>
              </a:ext>
            </a:extLst>
          </p:cNvPr>
          <p:cNvGrpSpPr/>
          <p:nvPr/>
        </p:nvGrpSpPr>
        <p:grpSpPr>
          <a:xfrm>
            <a:off x="842310" y="1690688"/>
            <a:ext cx="2546083" cy="2047818"/>
            <a:chOff x="1166271" y="1993063"/>
            <a:chExt cx="2546083" cy="20478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B84A66-4985-FBF4-6D1C-8D49C996CFE4}"/>
                </a:ext>
              </a:extLst>
            </p:cNvPr>
            <p:cNvSpPr/>
            <p:nvPr/>
          </p:nvSpPr>
          <p:spPr>
            <a:xfrm>
              <a:off x="1166271" y="1993063"/>
              <a:ext cx="2546083" cy="204781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flex-direction: row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6C6E801-4A32-CDB5-506E-684766B85DF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346960" y="3006022"/>
              <a:ext cx="2173754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695509D-F411-938B-0D4F-51463EAB946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431099" y="2129950"/>
              <a:ext cx="0" cy="1735717"/>
            </a:xfrm>
            <a:prstGeom prst="straightConnector1">
              <a:avLst/>
            </a:prstGeom>
            <a:ln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7DD436-12EE-45D9-1A33-D2EB2B3164AF}"/>
              </a:ext>
            </a:extLst>
          </p:cNvPr>
          <p:cNvGrpSpPr/>
          <p:nvPr/>
        </p:nvGrpSpPr>
        <p:grpSpPr>
          <a:xfrm>
            <a:off x="842310" y="4040160"/>
            <a:ext cx="2546083" cy="2047818"/>
            <a:chOff x="3365579" y="4143403"/>
            <a:chExt cx="2546083" cy="204781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E27B1AC-1E5D-19AD-275B-3D3E903EB9C2}"/>
                </a:ext>
              </a:extLst>
            </p:cNvPr>
            <p:cNvSpPr/>
            <p:nvPr/>
          </p:nvSpPr>
          <p:spPr>
            <a:xfrm>
              <a:off x="3365579" y="4143403"/>
              <a:ext cx="2546083" cy="204781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flex-direction: row-reverse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8582252-EA30-C11C-4431-37841B306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8091" y="5167312"/>
              <a:ext cx="2233983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4DBECBE-1108-8A7A-F1E7-6D07FCB82161}"/>
                </a:ext>
              </a:extLst>
            </p:cNvPr>
            <p:cNvCxnSpPr>
              <a:cxnSpLocks/>
            </p:cNvCxnSpPr>
            <p:nvPr/>
          </p:nvCxnSpPr>
          <p:spPr>
            <a:xfrm>
              <a:off x="4630407" y="4280290"/>
              <a:ext cx="0" cy="1735717"/>
            </a:xfrm>
            <a:prstGeom prst="straightConnector1">
              <a:avLst/>
            </a:prstGeom>
            <a:ln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D95B61-E567-796C-3186-4CF2312E8E1D}"/>
              </a:ext>
            </a:extLst>
          </p:cNvPr>
          <p:cNvGrpSpPr/>
          <p:nvPr/>
        </p:nvGrpSpPr>
        <p:grpSpPr>
          <a:xfrm>
            <a:off x="3759811" y="1682474"/>
            <a:ext cx="2546083" cy="2047818"/>
            <a:chOff x="5911662" y="1690688"/>
            <a:chExt cx="2546083" cy="204781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91EBA10-D9AC-1729-1A66-4E97014FC0EF}"/>
                </a:ext>
              </a:extLst>
            </p:cNvPr>
            <p:cNvSpPr/>
            <p:nvPr/>
          </p:nvSpPr>
          <p:spPr>
            <a:xfrm>
              <a:off x="5911662" y="1690688"/>
              <a:ext cx="2546083" cy="204781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flex-direction: column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1E85F74-7ED7-FB2B-B3F5-E760E6BCC7E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351" y="2703647"/>
              <a:ext cx="2173754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F9303AD-2B58-61FB-00BB-4D5C23DFE9BF}"/>
                </a:ext>
              </a:extLst>
            </p:cNvPr>
            <p:cNvCxnSpPr>
              <a:cxnSpLocks/>
            </p:cNvCxnSpPr>
            <p:nvPr/>
          </p:nvCxnSpPr>
          <p:spPr>
            <a:xfrm>
              <a:off x="7176490" y="1827575"/>
              <a:ext cx="0" cy="1735717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9BA25DE-6197-E5A8-1469-79409D630FAE}"/>
              </a:ext>
            </a:extLst>
          </p:cNvPr>
          <p:cNvGrpSpPr/>
          <p:nvPr/>
        </p:nvGrpSpPr>
        <p:grpSpPr>
          <a:xfrm>
            <a:off x="3751597" y="4040160"/>
            <a:ext cx="2546083" cy="2047818"/>
            <a:chOff x="8457745" y="4040160"/>
            <a:chExt cx="2546083" cy="204781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4B0DE4-A1B1-B587-32AF-EDE22C1D723B}"/>
                </a:ext>
              </a:extLst>
            </p:cNvPr>
            <p:cNvSpPr/>
            <p:nvPr/>
          </p:nvSpPr>
          <p:spPr>
            <a:xfrm>
              <a:off x="8457745" y="4040160"/>
              <a:ext cx="2546083" cy="204781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flex-direction: column-reverse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1E1DB2B-E97A-C4F9-AB89-64604F464669}"/>
                </a:ext>
              </a:extLst>
            </p:cNvPr>
            <p:cNvCxnSpPr>
              <a:cxnSpLocks/>
            </p:cNvCxnSpPr>
            <p:nvPr/>
          </p:nvCxnSpPr>
          <p:spPr>
            <a:xfrm>
              <a:off x="8638434" y="5053119"/>
              <a:ext cx="2173754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E364667-27E2-8539-135C-73E35CB231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5311" y="4188719"/>
              <a:ext cx="0" cy="171929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4D6128A-1370-2FB3-00E9-8A5C786B1DE6}"/>
              </a:ext>
            </a:extLst>
          </p:cNvPr>
          <p:cNvSpPr txBox="1"/>
          <p:nvPr/>
        </p:nvSpPr>
        <p:spPr>
          <a:xfrm>
            <a:off x="6970247" y="1633195"/>
            <a:ext cx="4084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Red arrow -&gt; </a:t>
            </a:r>
            <a:r>
              <a:rPr lang="en-US" dirty="0"/>
              <a:t>Main axis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Orange arrow -&gt; </a:t>
            </a:r>
            <a:r>
              <a:rPr lang="en-US" dirty="0"/>
              <a:t>Cross axis</a:t>
            </a:r>
          </a:p>
        </p:txBody>
      </p:sp>
    </p:spTree>
    <p:extLst>
      <p:ext uri="{BB962C8B-B14F-4D97-AF65-F5344CB8AC3E}">
        <p14:creationId xmlns:p14="http://schemas.microsoft.com/office/powerpoint/2010/main" val="1567597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8330C-B084-1301-055F-695BE6C2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E34E-F531-ED25-295D-FA1A22C37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flex-direction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445EF3-5986-FBE3-1AA9-92C7D3F24ACE}"/>
              </a:ext>
            </a:extLst>
          </p:cNvPr>
          <p:cNvGrpSpPr/>
          <p:nvPr/>
        </p:nvGrpSpPr>
        <p:grpSpPr>
          <a:xfrm>
            <a:off x="792325" y="1727821"/>
            <a:ext cx="4801905" cy="4125267"/>
            <a:chOff x="1166271" y="1993063"/>
            <a:chExt cx="2546083" cy="20478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B13EDD-C98C-B228-2188-410E56D135FE}"/>
                </a:ext>
              </a:extLst>
            </p:cNvPr>
            <p:cNvSpPr/>
            <p:nvPr/>
          </p:nvSpPr>
          <p:spPr>
            <a:xfrm>
              <a:off x="1166271" y="1993063"/>
              <a:ext cx="2546083" cy="204781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flex-direction: row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C02B91F-8B2B-60BA-7CFB-D0142CFFBA5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346960" y="3006022"/>
              <a:ext cx="2173754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BE48759-5C0A-E1E2-DD71-6A908ABD70C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431099" y="2129950"/>
              <a:ext cx="0" cy="1735717"/>
            </a:xfrm>
            <a:prstGeom prst="straightConnector1">
              <a:avLst/>
            </a:prstGeom>
            <a:ln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3F5D24-CF45-F823-DEB8-BE7D1327555D}"/>
              </a:ext>
            </a:extLst>
          </p:cNvPr>
          <p:cNvGrpSpPr/>
          <p:nvPr/>
        </p:nvGrpSpPr>
        <p:grpSpPr>
          <a:xfrm>
            <a:off x="6535253" y="1735063"/>
            <a:ext cx="4943484" cy="4125267"/>
            <a:chOff x="5911662" y="1690688"/>
            <a:chExt cx="2546083" cy="204781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71AC350-9614-3DB3-167B-CA42E23C879D}"/>
                </a:ext>
              </a:extLst>
            </p:cNvPr>
            <p:cNvSpPr/>
            <p:nvPr/>
          </p:nvSpPr>
          <p:spPr>
            <a:xfrm>
              <a:off x="5911662" y="1690688"/>
              <a:ext cx="2546083" cy="204781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flex-direction: column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2875A91-31AD-6303-9BC2-2704517A232A}"/>
                </a:ext>
              </a:extLst>
            </p:cNvPr>
            <p:cNvCxnSpPr>
              <a:cxnSpLocks/>
            </p:cNvCxnSpPr>
            <p:nvPr/>
          </p:nvCxnSpPr>
          <p:spPr>
            <a:xfrm>
              <a:off x="6092351" y="2703647"/>
              <a:ext cx="2173754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EAF78A5-06F9-C164-FCA2-627B738C28AF}"/>
                </a:ext>
              </a:extLst>
            </p:cNvPr>
            <p:cNvCxnSpPr>
              <a:cxnSpLocks/>
            </p:cNvCxnSpPr>
            <p:nvPr/>
          </p:nvCxnSpPr>
          <p:spPr>
            <a:xfrm>
              <a:off x="7176490" y="1827575"/>
              <a:ext cx="0" cy="1735717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7B47A0-B0D7-2C8F-8883-ADD67B7E08B6}"/>
              </a:ext>
            </a:extLst>
          </p:cNvPr>
          <p:cNvSpPr txBox="1"/>
          <p:nvPr/>
        </p:nvSpPr>
        <p:spPr>
          <a:xfrm>
            <a:off x="713263" y="3704016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flex-start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A8CAB-BA7B-E74B-1C9F-69B8B560EA40}"/>
              </a:ext>
            </a:extLst>
          </p:cNvPr>
          <p:cNvSpPr txBox="1"/>
          <p:nvPr/>
        </p:nvSpPr>
        <p:spPr>
          <a:xfrm>
            <a:off x="2773371" y="1727821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flex-start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9F540-F793-94A0-E016-C8839C49529B}"/>
              </a:ext>
            </a:extLst>
          </p:cNvPr>
          <p:cNvSpPr txBox="1"/>
          <p:nvPr/>
        </p:nvSpPr>
        <p:spPr>
          <a:xfrm>
            <a:off x="8569986" y="1697650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flex-start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D3D03-0094-3796-04E4-2E4BDD3EA77F}"/>
              </a:ext>
            </a:extLst>
          </p:cNvPr>
          <p:cNvSpPr txBox="1"/>
          <p:nvPr/>
        </p:nvSpPr>
        <p:spPr>
          <a:xfrm>
            <a:off x="6503360" y="3758343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flex-start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A8C47-2F0A-ADA0-F245-93F27C0F7AFD}"/>
              </a:ext>
            </a:extLst>
          </p:cNvPr>
          <p:cNvSpPr txBox="1"/>
          <p:nvPr/>
        </p:nvSpPr>
        <p:spPr>
          <a:xfrm>
            <a:off x="8569985" y="5569848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60EA94-23A1-6632-5E98-DCD5C6E57D04}"/>
              </a:ext>
            </a:extLst>
          </p:cNvPr>
          <p:cNvSpPr txBox="1"/>
          <p:nvPr/>
        </p:nvSpPr>
        <p:spPr>
          <a:xfrm>
            <a:off x="10711803" y="3798309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1255D7-FB36-9E6E-6C62-26AC0A85B679}"/>
              </a:ext>
            </a:extLst>
          </p:cNvPr>
          <p:cNvSpPr txBox="1"/>
          <p:nvPr/>
        </p:nvSpPr>
        <p:spPr>
          <a:xfrm>
            <a:off x="4698813" y="3832777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4F49F1-8DCE-28C3-1393-54360042FF68}"/>
              </a:ext>
            </a:extLst>
          </p:cNvPr>
          <p:cNvSpPr txBox="1"/>
          <p:nvPr/>
        </p:nvSpPr>
        <p:spPr>
          <a:xfrm>
            <a:off x="2773370" y="5536768"/>
            <a:ext cx="1112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flex-end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A3C8AB-24DB-32D1-AB6B-C93051CD53C3}"/>
              </a:ext>
            </a:extLst>
          </p:cNvPr>
          <p:cNvSpPr txBox="1"/>
          <p:nvPr/>
        </p:nvSpPr>
        <p:spPr>
          <a:xfrm>
            <a:off x="2827904" y="3704016"/>
            <a:ext cx="69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center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748980-0C9F-154D-9A75-401BF61E1EDB}"/>
              </a:ext>
            </a:extLst>
          </p:cNvPr>
          <p:cNvSpPr txBox="1"/>
          <p:nvPr/>
        </p:nvSpPr>
        <p:spPr>
          <a:xfrm>
            <a:off x="8657112" y="3724714"/>
            <a:ext cx="69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center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3A0CEE-C732-E3CC-FBF4-0FA0990D8C64}"/>
              </a:ext>
            </a:extLst>
          </p:cNvPr>
          <p:cNvSpPr txBox="1"/>
          <p:nvPr/>
        </p:nvSpPr>
        <p:spPr>
          <a:xfrm>
            <a:off x="713263" y="3416937"/>
            <a:ext cx="134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justify-content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D9EB5-9F4F-B6C0-97E8-21F3BCF62AA8}"/>
              </a:ext>
            </a:extLst>
          </p:cNvPr>
          <p:cNvSpPr txBox="1"/>
          <p:nvPr/>
        </p:nvSpPr>
        <p:spPr>
          <a:xfrm>
            <a:off x="9006995" y="1927279"/>
            <a:ext cx="134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justify-content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245DD0-5BCF-4CDC-4D1A-DA13FD7DCF0B}"/>
              </a:ext>
            </a:extLst>
          </p:cNvPr>
          <p:cNvSpPr txBox="1"/>
          <p:nvPr/>
        </p:nvSpPr>
        <p:spPr>
          <a:xfrm>
            <a:off x="6470208" y="3467861"/>
            <a:ext cx="134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C000"/>
                </a:solidFill>
              </a:rPr>
              <a:t>align-items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D145DB-11D5-F2D0-0FFE-6C4DD8855A4F}"/>
              </a:ext>
            </a:extLst>
          </p:cNvPr>
          <p:cNvSpPr txBox="1"/>
          <p:nvPr/>
        </p:nvSpPr>
        <p:spPr>
          <a:xfrm>
            <a:off x="3205898" y="1935645"/>
            <a:ext cx="134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C000"/>
                </a:solidFill>
              </a:rPr>
              <a:t>align-items</a:t>
            </a:r>
          </a:p>
        </p:txBody>
      </p:sp>
    </p:spTree>
    <p:extLst>
      <p:ext uri="{BB962C8B-B14F-4D97-AF65-F5344CB8AC3E}">
        <p14:creationId xmlns:p14="http://schemas.microsoft.com/office/powerpoint/2010/main" val="428191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4A4E-F500-41E5-FA26-EED1FDC4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AFF5A-F391-06B7-C847-46E98962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Just like Flexbox, Grid is a layout framework</a:t>
            </a:r>
          </a:p>
          <a:p>
            <a:r>
              <a:rPr lang="en-US" dirty="0"/>
              <a:t>The parent container becomes grid, and the children elements become grid items automatically</a:t>
            </a:r>
          </a:p>
          <a:p>
            <a:pPr lvl="1"/>
            <a:r>
              <a:rPr lang="en-US" dirty="0" err="1"/>
              <a:t>parentContainer</a:t>
            </a:r>
            <a:r>
              <a:rPr lang="en-US" dirty="0"/>
              <a:t> { display: grid; }</a:t>
            </a:r>
          </a:p>
          <a:p>
            <a:r>
              <a:rPr lang="en-US" dirty="0"/>
              <a:t>To control the number/size of each column of the grid container:</a:t>
            </a:r>
          </a:p>
          <a:p>
            <a:pPr lvl="1"/>
            <a:r>
              <a:rPr lang="en-US" dirty="0" err="1"/>
              <a:t>parentContainer</a:t>
            </a:r>
            <a:r>
              <a:rPr lang="en-US" dirty="0"/>
              <a:t> { grid-template-columns: 100px 200px 300px; }</a:t>
            </a:r>
          </a:p>
          <a:p>
            <a:pPr lvl="2"/>
            <a:r>
              <a:rPr lang="en-US" dirty="0"/>
              <a:t>3 columns with 3 different widths</a:t>
            </a:r>
          </a:p>
          <a:p>
            <a:r>
              <a:rPr lang="en-US" dirty="0"/>
              <a:t>To control the size of each row of the grid container:</a:t>
            </a:r>
          </a:p>
          <a:p>
            <a:pPr lvl="1"/>
            <a:r>
              <a:rPr lang="en-US" dirty="0" err="1"/>
              <a:t>parentContainer</a:t>
            </a:r>
            <a:r>
              <a:rPr lang="en-US" dirty="0"/>
              <a:t> { grid-template-rows: auto 50px}</a:t>
            </a:r>
          </a:p>
          <a:p>
            <a:pPr lvl="2"/>
            <a:r>
              <a:rPr lang="en-US" dirty="0"/>
              <a:t>2 rows with 2 different heights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950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1036-DDB2-EA07-CE51-7202FEA9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Layout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4EBD-77CC-0645-9802-3B5162818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grid container can control and set the following properties</a:t>
            </a:r>
          </a:p>
          <a:p>
            <a:pPr lvl="1"/>
            <a:r>
              <a:rPr lang="en-US" dirty="0"/>
              <a:t>grid-template-columns / grid-template-rows</a:t>
            </a:r>
          </a:p>
          <a:p>
            <a:pPr lvl="1"/>
            <a:r>
              <a:rPr lang="en-US" dirty="0"/>
              <a:t>gap</a:t>
            </a:r>
          </a:p>
          <a:p>
            <a:pPr lvl="1"/>
            <a:r>
              <a:rPr lang="en-US" dirty="0"/>
              <a:t>justify-content</a:t>
            </a:r>
          </a:p>
          <a:p>
            <a:pPr lvl="1"/>
            <a:r>
              <a:rPr lang="en-US" dirty="0"/>
              <a:t>align-content</a:t>
            </a:r>
          </a:p>
          <a:p>
            <a:r>
              <a:rPr lang="en-US" dirty="0"/>
              <a:t>A grid item can control how many rows and columns it span:</a:t>
            </a:r>
          </a:p>
          <a:p>
            <a:pPr lvl="1"/>
            <a:r>
              <a:rPr lang="en-US" dirty="0"/>
              <a:t>grid-row: 1 / 3</a:t>
            </a:r>
          </a:p>
          <a:p>
            <a:pPr lvl="1"/>
            <a:r>
              <a:rPr lang="en-US" dirty="0"/>
              <a:t>grid-column: 2 / 4</a:t>
            </a:r>
          </a:p>
          <a:p>
            <a:pPr lvl="1"/>
            <a:r>
              <a:rPr lang="en-US" dirty="0"/>
              <a:t>grid-area: 1 / 2 / 3 / 4</a:t>
            </a:r>
          </a:p>
        </p:txBody>
      </p:sp>
      <p:pic>
        <p:nvPicPr>
          <p:cNvPr id="1026" name="Picture 2" descr="A grid with 3 rows and 3 columns. Column lines appear above each line in the grid, numbering the column lines 1, 2, 3, 4. Row line numbers the row lines starting at the top line: 1, 2, 3, 4.">
            <a:extLst>
              <a:ext uri="{FF2B5EF4-FFF2-40B4-BE49-F238E27FC236}">
                <a16:creationId xmlns:a16="http://schemas.microsoft.com/office/drawing/2014/main" id="{AB36780E-50AF-BCA7-1D7B-D07FC5DF5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030" y="4380050"/>
            <a:ext cx="3762375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642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A3BA-4CE3-5065-FCB8-A89AFC79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Web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1C7A-76DC-8819-E997-24B80D335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Platforms we develop for:</a:t>
            </a:r>
          </a:p>
          <a:p>
            <a:pPr lvl="1"/>
            <a:r>
              <a:rPr lang="en-US" dirty="0"/>
              <a:t>Mobile</a:t>
            </a:r>
          </a:p>
          <a:p>
            <a:pPr lvl="1"/>
            <a:r>
              <a:rPr lang="en-US" dirty="0"/>
              <a:t>Table</a:t>
            </a:r>
          </a:p>
          <a:p>
            <a:pPr lvl="1"/>
            <a:r>
              <a:rPr lang="en-US" dirty="0"/>
              <a:t>Desktop</a:t>
            </a:r>
          </a:p>
          <a:p>
            <a:r>
              <a:rPr lang="en-US" dirty="0"/>
              <a:t>Methods to design a webpage:</a:t>
            </a:r>
          </a:p>
          <a:p>
            <a:pPr lvl="1"/>
            <a:r>
              <a:rPr lang="en-US" dirty="0"/>
              <a:t>Graceful degradation: desktop-first approach</a:t>
            </a:r>
          </a:p>
          <a:p>
            <a:pPr lvl="1"/>
            <a:r>
              <a:rPr lang="en-US" dirty="0"/>
              <a:t>Progressive enhancement: mobile-first approach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23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9729-47C7-DB6A-A534-5D3F5CD5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2D74-D7E0-483C-4F44-73B0B8A6C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Developers use media queries to condition the design on the viewport size</a:t>
            </a:r>
          </a:p>
          <a:p>
            <a:r>
              <a:rPr lang="en-US" dirty="0"/>
              <a:t>Media types:</a:t>
            </a:r>
          </a:p>
          <a:p>
            <a:pPr lvl="1"/>
            <a:r>
              <a:rPr lang="en-US" dirty="0"/>
              <a:t>all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screen</a:t>
            </a:r>
          </a:p>
          <a:p>
            <a:r>
              <a:rPr lang="en-US" dirty="0"/>
              <a:t>Media features:</a:t>
            </a:r>
          </a:p>
          <a:p>
            <a:pPr lvl="1"/>
            <a:r>
              <a:rPr lang="en-US" dirty="0"/>
              <a:t>width</a:t>
            </a:r>
          </a:p>
          <a:p>
            <a:pPr lvl="1"/>
            <a:r>
              <a:rPr lang="en-US" dirty="0"/>
              <a:t>height</a:t>
            </a:r>
          </a:p>
          <a:p>
            <a:pPr lvl="1"/>
            <a:r>
              <a:rPr lang="en-US" dirty="0"/>
              <a:t>orientation </a:t>
            </a:r>
            <a:r>
              <a:rPr lang="en-US" dirty="0" err="1"/>
              <a:t>ect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9302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F570-E0C8-D51F-FFD4-06CB748A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EDAD7-BA3F-A982-619A-CB8B6475E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responsive designs you can utilize the following breakpoints:</a:t>
            </a:r>
          </a:p>
          <a:p>
            <a:pPr lvl="1"/>
            <a:r>
              <a:rPr lang="en-US" dirty="0"/>
              <a:t>Up 480px for portrait mobile</a:t>
            </a:r>
          </a:p>
          <a:p>
            <a:pPr lvl="1"/>
            <a:r>
              <a:rPr lang="en-US" dirty="0"/>
              <a:t>481px – 780px for landscape mobile and portrait tables</a:t>
            </a:r>
          </a:p>
          <a:p>
            <a:pPr lvl="1"/>
            <a:r>
              <a:rPr lang="en-US" dirty="0"/>
              <a:t>781px – 1280px for landscape tables and laptops</a:t>
            </a:r>
          </a:p>
          <a:p>
            <a:pPr lvl="1"/>
            <a:r>
              <a:rPr lang="en-US" dirty="0"/>
              <a:t>1281px and up for big laptops and desktops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2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EF33-3126-F091-E40D-170D1D9A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 Advice -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2395B-3DDE-8128-7B72-301DEAE32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 on the design/brand</a:t>
            </a:r>
          </a:p>
          <a:p>
            <a:pPr lvl="1"/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https://looka.com/blog/graphic-design-styles/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https://blog.thenounproject.com/graphic-design-styles/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https://www.shopify.com/blog/graphic-design-styles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https://99designs.com/designer-resource-center/visual-design-styles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Use Flexbox for layout</a:t>
            </a:r>
          </a:p>
          <a:p>
            <a:r>
              <a:rPr lang="en-US" dirty="0"/>
              <a:t>Use Bootstrap for a natural-feel of components</a:t>
            </a:r>
          </a:p>
          <a:p>
            <a:r>
              <a:rPr lang="en-US" dirty="0"/>
              <a:t>Use media queries for mobile vs desktop layout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425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3635</TotalTime>
  <Words>826</Words>
  <Application>Microsoft Office PowerPoint</Application>
  <PresentationFormat>Widescreen</PresentationFormat>
  <Paragraphs>148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1_Office Theme</vt:lpstr>
      <vt:lpstr>WebDev</vt:lpstr>
      <vt:lpstr>Webpage Composition</vt:lpstr>
      <vt:lpstr>Intro to CSS</vt:lpstr>
      <vt:lpstr>Applying CSS</vt:lpstr>
      <vt:lpstr>CSS Basic Selectors</vt:lpstr>
      <vt:lpstr>CSS Basic Selectors Con’t</vt:lpstr>
      <vt:lpstr>CSS Selectors Con’t</vt:lpstr>
      <vt:lpstr>Common CSS Properties</vt:lpstr>
      <vt:lpstr>CSS Box Model</vt:lpstr>
      <vt:lpstr>CSS Box Model Example</vt:lpstr>
      <vt:lpstr>Flexbox Layout</vt:lpstr>
      <vt:lpstr>flex-direction</vt:lpstr>
      <vt:lpstr>flex-direction</vt:lpstr>
      <vt:lpstr>Grid Layout</vt:lpstr>
      <vt:lpstr>Grid Layout Properties</vt:lpstr>
      <vt:lpstr>Responsive Web Design</vt:lpstr>
      <vt:lpstr>Media Queries</vt:lpstr>
      <vt:lpstr>Breakpoints</vt:lpstr>
      <vt:lpstr>Project 1 Advice - 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10</cp:revision>
  <dcterms:created xsi:type="dcterms:W3CDTF">2025-07-07T15:37:20Z</dcterms:created>
  <dcterms:modified xsi:type="dcterms:W3CDTF">2025-09-08T20:47:33Z</dcterms:modified>
</cp:coreProperties>
</file>