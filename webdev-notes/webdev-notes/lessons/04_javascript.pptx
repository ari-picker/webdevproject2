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56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3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37161" cy="13716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F97E8E-54D9-4838-99C2-CA3920E227A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D5F54-43B9-4C9B-B7EC-0A0B581F6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6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FA91C-7B33-39DF-3E5D-E0860E375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DBEC5-BA50-04E1-7CD2-493F9DE1B6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50A04-CD10-A4BC-B6E1-449C98380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523D4-F178-9FCC-7C6D-0080BEA34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5D934-C315-D2E2-3BFF-2EE43453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6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03457-769A-7373-20E5-EA62FAE2B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F412C-FFE1-6EE4-6B57-C2892A76D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73ED-140B-1426-B0E2-47CE7B228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2FFE7-D571-E8F3-B64F-900654C89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D7AE5-9F96-4A67-16C8-095610CB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92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59B5D-7B8C-E5B7-0E67-BCFB5CD3F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F3AEA-A56E-0A26-AB1A-0F071D77E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2EC55-A8F1-7CBE-4ADB-FC2B4370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58FEC-B222-9CFA-2615-CDF277C28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5A9A7-EA15-9774-AFA9-AE948A7FA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383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8BD36-3851-2534-4111-E7EBF07CA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442F9-9423-B84D-89F8-FD11E5BBD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DC9037-4C65-3A0D-E6FD-AA59D8679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6CB37-668C-D30D-15C7-81D09E24A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6F6F3-0E10-19F0-A83D-020012A59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D5BD6-91EE-3828-6D5D-3F2C5BC45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53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64043-6CD4-A21A-8B05-2D63092B1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CEFFA-6AF1-D9A5-D7C7-1E2C8172A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525DB-9901-EF23-54FE-47D04161A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90E6C0-78A1-881A-75EC-1915811AB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1A7450-955C-A85F-F8A4-5559A6C95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0B9D76-B441-9EEE-A2CA-8BFC23B8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81D361-47ED-ADC5-BFE8-B366CC458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0F0289-228B-5630-1CCA-C65E062C3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92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6CD4E-53FB-359A-01E4-82494F8AE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42E3A-B099-7EC1-CECE-4F0AE62B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942DD-94FA-64AE-C145-F4C793D2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C112CE-2B60-35F3-2A49-2F197C2D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99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484135-D17A-CE12-AA75-AAFBACA2F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8E7CEF-2755-42F5-B821-8F4744457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4E272-6DD9-1E38-ABCD-6FFB360D2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52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839E-2BC4-78F8-CF27-135A327B4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30251-616B-C04D-2D99-56D18B17B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C5DD3-CB2E-B6F5-6379-5395CAA5B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38DA3-7989-E50C-57FF-EEAFB5EE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61913-75BD-8519-F835-741D214A0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2A922-4969-D97D-F404-3A68DB51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41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4D98-1D5D-45C2-7001-E8EE7685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BA8314-F02A-FA07-1204-DE6B17D7C0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3DF2BF-F03C-A113-0FF0-D75E345ED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6F4A24-8CD8-6B38-B905-08D4EA338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59FFB-BF91-C14A-A966-7547EE07B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87B24-85E0-1E3D-3562-39B70C0A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62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11189-506D-6096-C277-CB29009C1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ED110-CEC0-646D-883F-2ABC2C658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0241E-D288-7DEA-DE85-A2568C1E3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BE689-08FA-2D12-32AA-7E5F6361A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96B4A-A3B1-1127-0AAB-D67367204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401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1CCE07-9194-6642-60FB-F72DEE1DD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E8DB7-4EF2-6ED5-7AF4-3C9A74AEF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B16E1-B4A2-7E97-9E32-3A5EEEA21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B7F8C-2977-E0D5-96A8-D8B66916F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FD8D4-BCA2-F002-2B09-BD2968B68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42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6C7D-4652-A1BE-7753-67CC5BD29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BB6E38-C721-B14C-19CD-39F40A393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55124-A8B2-D023-3243-783227744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394A7-CEA5-262E-16C9-4002E7AB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254E-EC4B-1A06-429A-998C8381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34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68B23-4C5A-E2CC-570C-DA846FF7D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F2F0B-7057-4180-2CA2-6B8385BF5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925C6-D6E3-4A5E-7542-2E2DEFE8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7A094-BBF5-5D7F-8CBB-4A224319C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70E9B-9F46-55C6-386E-6F36B77E2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42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5D415-2E6A-BF91-784D-2932401E0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52525-8574-DB76-9317-A5E70038B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406DF-ACD0-0FB8-DC1C-E73A237FD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D6A50-2402-FC01-2B3E-181494B6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DD2BE-655B-4925-2F8F-A217FDEA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46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DC157-7FE8-8758-6EE9-D969D2BC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89B06-5CE6-8D70-47D7-0BF69B332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FB4C7-E1B5-72AB-E51D-B48DC2C8C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CC130-059C-400A-4293-6BFCDD5CE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023FC-D624-587D-5A29-3D1BA3327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36FE0-952A-8720-8F79-FE9531289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639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8234C-BE04-E0D5-4B9F-3CBDB658C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53566-BB1F-9774-73EB-F8BB0E0CF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381E10-C95E-9890-2625-5D273B439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9E44C0-18DA-9471-FFE2-720B9E75F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E1C173-A1EB-FEED-03FF-3A844C5851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D4E637-1939-FEB5-3D9C-37743933D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7EF853-E189-128C-028B-905A52746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6BEAD5-B7A9-2E36-A963-1775DC5D3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26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DE85B-F05E-660A-388F-505470365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442AAB-3544-A86E-357A-F2520583C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F2D336-4038-3A3A-12B9-42D591B9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0416A-336D-E1BE-A3A3-B1EE3848D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11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13B87-54C7-D99E-81D7-132E5131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1FD63D-6043-656B-657F-526F372AE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9AE4C-FF96-4B6C-8A43-C72CD00B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53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95FC6-C900-7C6D-2E57-65E5272F2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838-3679-641B-42A9-D5D15820B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DBCF1-D868-2227-6042-583A21A2D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C4760-FEBC-A79B-0016-CD5667040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436DC-BCD8-5C01-5F7A-9F5E7D702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4B0C5-04D4-0FA0-D9C2-781020EE6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518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D62E3-E446-6683-C852-C39EAC572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6E9E7D-2372-E259-DC6C-68A2C8515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888A18-8CC8-635C-277E-7F4043FB7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377E8-07FB-67DF-654F-71C109772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ADA53-1132-8FAF-3B87-0E6E8A213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20D54-27DF-328E-F669-DAC7FB35C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760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934AC-0BBD-599C-A282-89347E68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E6DC0-6E71-EB90-6BAD-7C38AF8C1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DEC91-728A-0A9A-9FB1-7DA39D770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BDD4A-C0C5-1444-C9CB-BC66E9BED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4921-6539-195D-BB47-3824C23C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259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8F9147-1DAD-616B-7E4E-2F514FA19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94AD4-4514-1002-1AB2-38AAC3F75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58C59-58F4-65E1-49B6-222A434B8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766E4-4BFE-F3FA-FE3A-6A8C07964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72C5C-896B-3E18-BDEC-F645B229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896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5ECB6-4303-BD3C-2508-64B79CAC4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13D1E-7E47-B8C2-A4B6-E9ED3C93C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BA615-98E3-E360-063F-43FBCD28C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8BB9D9-658B-4236-B589-0C31CFC544F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7F63-2930-29C4-A055-B6036A40F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FD834-41C3-00FE-5F33-72399E28E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43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7ED95C-4E7F-E2A8-AE96-445EB6201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055E4-2524-BA9A-ED0B-9C3CB3AA8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5C39C-F36E-ACA9-434D-1CF43B7A98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A84B2-7580-4D8F-98DE-2B020D9878ED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9B57B-53F4-EB03-D483-10390F90B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118D6-671C-DFD6-7B5E-47060CA6B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481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eloquentjavascript.net/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DA067-1E9A-4220-E61F-81C9356678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WebDev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1E830-8539-8A39-8901-7969E54AB5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Nikola Baci</a:t>
            </a:r>
          </a:p>
        </p:txBody>
      </p:sp>
    </p:spTree>
    <p:extLst>
      <p:ext uri="{BB962C8B-B14F-4D97-AF65-F5344CB8AC3E}">
        <p14:creationId xmlns:p14="http://schemas.microsoft.com/office/powerpoint/2010/main" val="111845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B0E09-76E8-D86D-9D4C-5B29FE814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Webpage 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2CAAA-F080-BAF6-8FD0-378166EA4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webpage is made of 3 file types:</a:t>
            </a:r>
          </a:p>
          <a:p>
            <a:pPr lvl="1"/>
            <a:r>
              <a:rPr lang="en-US" dirty="0"/>
              <a:t>HTML – structure and content (skeleton)</a:t>
            </a:r>
          </a:p>
          <a:p>
            <a:pPr lvl="1"/>
            <a:r>
              <a:rPr lang="en-US" dirty="0"/>
              <a:t>CSS – layout and design (appearance) </a:t>
            </a:r>
          </a:p>
          <a:p>
            <a:pPr lvl="1"/>
            <a:r>
              <a:rPr lang="en-US" dirty="0"/>
              <a:t>JS – functionality and interactivity (brain)</a:t>
            </a:r>
          </a:p>
        </p:txBody>
      </p:sp>
    </p:spTree>
    <p:extLst>
      <p:ext uri="{BB962C8B-B14F-4D97-AF65-F5344CB8AC3E}">
        <p14:creationId xmlns:p14="http://schemas.microsoft.com/office/powerpoint/2010/main" val="1131127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B7E43-F7A8-9487-F5BB-BE1827129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ACF41-3AEF-8461-2A73-703D30021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 are created with the keyword: let and const</a:t>
            </a:r>
          </a:p>
          <a:p>
            <a:r>
              <a:rPr lang="en-US" dirty="0"/>
              <a:t>Variables types:</a:t>
            </a:r>
          </a:p>
          <a:p>
            <a:pPr lvl="1"/>
            <a:r>
              <a:rPr lang="en-US" dirty="0"/>
              <a:t>Strings and string templates </a:t>
            </a:r>
          </a:p>
          <a:p>
            <a:pPr lvl="1"/>
            <a:r>
              <a:rPr lang="en-US" dirty="0"/>
              <a:t>Number</a:t>
            </a:r>
          </a:p>
          <a:p>
            <a:pPr lvl="1"/>
            <a:r>
              <a:rPr lang="en-US" dirty="0"/>
              <a:t>Boolean</a:t>
            </a:r>
          </a:p>
          <a:p>
            <a:pPr lvl="1"/>
            <a:r>
              <a:rPr lang="en-US" dirty="0"/>
              <a:t>Array</a:t>
            </a:r>
          </a:p>
          <a:p>
            <a:pPr lvl="1"/>
            <a:r>
              <a:rPr lang="en-US" dirty="0"/>
              <a:t>Object</a:t>
            </a:r>
          </a:p>
          <a:p>
            <a:pPr lvl="1"/>
            <a:r>
              <a:rPr lang="en-US" dirty="0"/>
              <a:t>Undefined</a:t>
            </a:r>
          </a:p>
          <a:p>
            <a:pPr lvl="1"/>
            <a:r>
              <a:rPr lang="en-US" dirty="0"/>
              <a:t>Null</a:t>
            </a:r>
          </a:p>
          <a:p>
            <a:pPr lvl="1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195FC1-F32B-2546-8C05-55B43E5AD413}"/>
              </a:ext>
            </a:extLst>
          </p:cNvPr>
          <p:cNvSpPr txBox="1"/>
          <p:nvPr/>
        </p:nvSpPr>
        <p:spPr>
          <a:xfrm>
            <a:off x="9540317" y="1690688"/>
            <a:ext cx="2576632" cy="735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7.6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D1C4E1-B8DD-7BFF-71B0-D2434F12C45D}"/>
              </a:ext>
            </a:extLst>
          </p:cNvPr>
          <p:cNvSpPr txBox="1"/>
          <p:nvPr/>
        </p:nvSpPr>
        <p:spPr>
          <a:xfrm>
            <a:off x="5647223" y="2493486"/>
            <a:ext cx="4691469" cy="1402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"John Doe"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`hi my name is ${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sName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}`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963B04-1FCB-F819-B61E-D6CB259B2975}"/>
              </a:ext>
            </a:extLst>
          </p:cNvPr>
          <p:cNvSpPr txBox="1"/>
          <p:nvPr/>
        </p:nvSpPr>
        <p:spPr>
          <a:xfrm>
            <a:off x="5647223" y="3194511"/>
            <a:ext cx="6095234" cy="735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arrayEmpty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[];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]];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6D8AA2-7D1E-D80C-A126-BFC9CAC73DBC}"/>
              </a:ext>
            </a:extLst>
          </p:cNvPr>
          <p:cNvSpPr txBox="1"/>
          <p:nvPr/>
        </p:nvSpPr>
        <p:spPr>
          <a:xfrm>
            <a:off x="5640141" y="3895536"/>
            <a:ext cx="6095234" cy="273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"jodo1800"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"John Doe"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"02/31/1800"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gpa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"cs355"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"cs212"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"cs313"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"cs111"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912229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3679F-ADEB-0FF9-C8E1-65CB436A8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0FDC38-60E0-8A16-1013-FCC7FD90A7A8}"/>
              </a:ext>
            </a:extLst>
          </p:cNvPr>
          <p:cNvSpPr txBox="1"/>
          <p:nvPr/>
        </p:nvSpPr>
        <p:spPr>
          <a:xfrm>
            <a:off x="838200" y="1690688"/>
            <a:ext cx="8907742" cy="1735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 are a child"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 are a teen"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 are an adult"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 are an elderly"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DEED88-C669-F0C0-B0C9-D086F60EAFB5}"/>
              </a:ext>
            </a:extLst>
          </p:cNvPr>
          <p:cNvSpPr txBox="1"/>
          <p:nvPr/>
        </p:nvSpPr>
        <p:spPr>
          <a:xfrm>
            <a:off x="838200" y="3734604"/>
            <a:ext cx="9201820" cy="206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3.14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"PI is correct 1"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2550"/>
              </a:lnSpc>
            </a:pP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pi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==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3.14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"PI is correct 1"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  <a:endParaRPr lang="en-US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"3.14"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"PI is correct 2"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 //true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"3.14"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"PI is correct 3"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 //false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!==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"Yes we know that"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92356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1ACB-DF35-3C20-0F97-D476ABAFE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31FE7F-8D6F-4B29-6213-A8A64E04A161}"/>
              </a:ext>
            </a:extLst>
          </p:cNvPr>
          <p:cNvSpPr txBox="1"/>
          <p:nvPr/>
        </p:nvSpPr>
        <p:spPr>
          <a:xfrm>
            <a:off x="838200" y="2127210"/>
            <a:ext cx="6095234" cy="1068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50"/>
              </a:lnSpc>
              <a:buNone/>
            </a:pPr>
            <a:r>
              <a:rPr lang="nn-NO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n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nn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n-NO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nn-NO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n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; </a:t>
            </a:r>
            <a:r>
              <a:rPr lang="nn-NO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nn-NO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array</a:t>
            </a:r>
            <a:r>
              <a:rPr lang="nn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n-NO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nn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n-NO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++) {</a:t>
            </a:r>
          </a:p>
          <a:p>
            <a:pPr>
              <a:lnSpc>
                <a:spcPts val="2550"/>
              </a:lnSpc>
              <a:buNone/>
            </a:pPr>
            <a:r>
              <a:rPr lang="nn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n-NO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nn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nn-NO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nn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n-NO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nn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nn-NO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nn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ts val="2550"/>
              </a:lnSpc>
              <a:buNone/>
            </a:pPr>
            <a:r>
              <a:rPr lang="nn-NO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4F5239-AFF4-1E8E-8E46-1964E1145BB2}"/>
              </a:ext>
            </a:extLst>
          </p:cNvPr>
          <p:cNvSpPr txBox="1"/>
          <p:nvPr/>
        </p:nvSpPr>
        <p:spPr>
          <a:xfrm>
            <a:off x="838200" y="3867384"/>
            <a:ext cx="6095234" cy="1735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array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--;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06236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8B81E-F6AE-1459-DD31-7ECEA6B16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93DA30-FCCB-2C1F-ADB3-0678121D328F}"/>
              </a:ext>
            </a:extLst>
          </p:cNvPr>
          <p:cNvSpPr txBox="1"/>
          <p:nvPr/>
        </p:nvSpPr>
        <p:spPr>
          <a:xfrm>
            <a:off x="838200" y="1690688"/>
            <a:ext cx="6095234" cy="3069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array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//for-each for loop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2550"/>
              </a:lnSpc>
              <a:buNone/>
            </a:pP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>
              <a:lnSpc>
                <a:spcPts val="2550"/>
              </a:lnSpc>
              <a:buNone/>
            </a:pP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et maximum = max;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4F99F4-7C2D-08AF-DC28-2E1EE40AC791}"/>
              </a:ext>
            </a:extLst>
          </p:cNvPr>
          <p:cNvSpPr txBox="1"/>
          <p:nvPr/>
        </p:nvSpPr>
        <p:spPr>
          <a:xfrm>
            <a:off x="4931556" y="3745327"/>
            <a:ext cx="6095234" cy="2402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maxArrow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array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//for-each for loop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36106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0DD4D-1FBC-A9E4-28DF-215A804F4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in Browser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49613-DBB3-59AC-8171-3F68059A5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JS can be embedded in HTML using &lt;script&gt; &lt;/script&gt; element</a:t>
            </a:r>
          </a:p>
          <a:p>
            <a:r>
              <a:rPr lang="en-US" dirty="0"/>
              <a:t>Or linked to an external file using </a:t>
            </a:r>
          </a:p>
          <a:p>
            <a:pPr marL="457200" lvl="1" indent="0">
              <a:buNone/>
            </a:pPr>
            <a:r>
              <a:rPr lang="en-US" sz="2800" dirty="0"/>
              <a:t>&lt;script </a:t>
            </a:r>
            <a:r>
              <a:rPr lang="en-US" sz="2800" dirty="0" err="1"/>
              <a:t>src</a:t>
            </a:r>
            <a:r>
              <a:rPr lang="en-US" sz="2800" dirty="0"/>
              <a:t>=“p/a/t/h”&gt; &lt;/script&gt;</a:t>
            </a:r>
          </a:p>
          <a:p>
            <a:r>
              <a:rPr lang="en-US" sz="3200" dirty="0"/>
              <a:t>Document Object Model (DOM)</a:t>
            </a:r>
          </a:p>
          <a:p>
            <a:pPr lvl="1"/>
            <a:r>
              <a:rPr lang="en-US" sz="2800" dirty="0"/>
              <a:t>Tree data structure that represents the HTML document</a:t>
            </a:r>
          </a:p>
        </p:txBody>
      </p:sp>
    </p:spTree>
    <p:extLst>
      <p:ext uri="{BB962C8B-B14F-4D97-AF65-F5344CB8AC3E}">
        <p14:creationId xmlns:p14="http://schemas.microsoft.com/office/powerpoint/2010/main" val="3193094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254FD-2815-1C25-8B8D-65B23A569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4407B-053F-E6AC-B6F3-0520FE324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Web browsers have a window object</a:t>
            </a:r>
          </a:p>
          <a:p>
            <a:r>
              <a:rPr lang="en-US" sz="3200" dirty="0"/>
              <a:t>Some properties:</a:t>
            </a:r>
          </a:p>
          <a:p>
            <a:pPr lvl="1"/>
            <a:r>
              <a:rPr lang="en-US" sz="2800" dirty="0" err="1"/>
              <a:t>window.document</a:t>
            </a:r>
            <a:r>
              <a:rPr lang="en-US" sz="2800" dirty="0"/>
              <a:t> or document: represents the DOM</a:t>
            </a:r>
          </a:p>
          <a:p>
            <a:pPr lvl="1"/>
            <a:r>
              <a:rPr lang="en-US" dirty="0" err="1"/>
              <a:t>window.innerHeight</a:t>
            </a:r>
            <a:r>
              <a:rPr lang="en-US" dirty="0"/>
              <a:t> and </a:t>
            </a:r>
            <a:r>
              <a:rPr lang="en-US" dirty="0" err="1"/>
              <a:t>window.innerWidth</a:t>
            </a:r>
            <a:endParaRPr lang="en-US" dirty="0"/>
          </a:p>
          <a:p>
            <a:pPr lvl="1"/>
            <a:r>
              <a:rPr lang="en-US" dirty="0" err="1"/>
              <a:t>window.navigator</a:t>
            </a:r>
            <a:endParaRPr lang="en-US" dirty="0"/>
          </a:p>
          <a:p>
            <a:r>
              <a:rPr lang="en-US" dirty="0"/>
              <a:t>Some methods:</a:t>
            </a:r>
          </a:p>
          <a:p>
            <a:pPr lvl="1"/>
            <a:r>
              <a:rPr lang="en-US" dirty="0" err="1"/>
              <a:t>window.alert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window.confirm</a:t>
            </a:r>
            <a:r>
              <a:rPr lang="en-US" dirty="0"/>
              <a:t>()</a:t>
            </a:r>
          </a:p>
          <a:p>
            <a:pPr lvl="1"/>
            <a:r>
              <a:rPr lang="en-US" dirty="0" err="1"/>
              <a:t>window.open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59628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0DBC1-CA49-5A38-7469-6E3103E92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35717-1224-65E0-2906-515BCCC15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DOM structure is composed of nodes with:</a:t>
            </a:r>
          </a:p>
          <a:p>
            <a:pPr lvl="1"/>
            <a:r>
              <a:rPr lang="en-US" dirty="0"/>
              <a:t>Root node – the &lt;html&gt; &lt;/html&gt;</a:t>
            </a:r>
          </a:p>
          <a:p>
            <a:pPr lvl="1"/>
            <a:r>
              <a:rPr lang="en-US" dirty="0"/>
              <a:t>Parent nodes</a:t>
            </a:r>
          </a:p>
          <a:p>
            <a:pPr lvl="1"/>
            <a:r>
              <a:rPr lang="en-US" dirty="0"/>
              <a:t>Children nodes</a:t>
            </a:r>
          </a:p>
          <a:p>
            <a:r>
              <a:rPr lang="en-US" dirty="0"/>
              <a:t>Searching DOM using JavaScript:</a:t>
            </a:r>
          </a:p>
          <a:p>
            <a:pPr lvl="1"/>
            <a:r>
              <a:rPr lang="en-US" dirty="0" err="1"/>
              <a:t>document.querySelector</a:t>
            </a:r>
            <a:r>
              <a:rPr lang="en-US" dirty="0"/>
              <a:t>(): returns first occurrence of this element</a:t>
            </a:r>
          </a:p>
          <a:p>
            <a:pPr lvl="1"/>
            <a:r>
              <a:rPr lang="en-US" dirty="0" err="1"/>
              <a:t>document.querySelectorAll</a:t>
            </a:r>
            <a:r>
              <a:rPr lang="en-US" dirty="0"/>
              <a:t>() : returns an array of elements</a:t>
            </a:r>
          </a:p>
          <a:p>
            <a:pPr lvl="2"/>
            <a:r>
              <a:rPr lang="en-US" dirty="0"/>
              <a:t>Arguments should be CSS selectors such as element tags, class names and id</a:t>
            </a:r>
          </a:p>
          <a:p>
            <a:r>
              <a:rPr lang="en-US" dirty="0"/>
              <a:t>DOM nodes have attributes with same name as HTML attributes: </a:t>
            </a:r>
          </a:p>
          <a:p>
            <a:pPr lvl="1"/>
            <a:r>
              <a:rPr lang="en-US" dirty="0"/>
              <a:t>Use attribute name to get and set a value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removeAttribute</a:t>
            </a:r>
            <a:r>
              <a:rPr lang="en-US" dirty="0"/>
              <a:t>() method to delete an attribute</a:t>
            </a:r>
          </a:p>
        </p:txBody>
      </p:sp>
    </p:spTree>
    <p:extLst>
      <p:ext uri="{BB962C8B-B14F-4D97-AF65-F5344CB8AC3E}">
        <p14:creationId xmlns:p14="http://schemas.microsoft.com/office/powerpoint/2010/main" val="2831264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1B1CC-556E-DAEB-E175-8E4729B92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DOM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87858-D083-E790-291C-89A85FE33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innerText</a:t>
            </a:r>
            <a:r>
              <a:rPr lang="en-US" dirty="0"/>
              <a:t> attribute changes the text of the node</a:t>
            </a:r>
          </a:p>
          <a:p>
            <a:r>
              <a:rPr lang="en-US" dirty="0" err="1"/>
              <a:t>innerHMTL</a:t>
            </a:r>
            <a:r>
              <a:rPr lang="en-US" dirty="0"/>
              <a:t> attribute changes the HTML of the node</a:t>
            </a:r>
          </a:p>
          <a:p>
            <a:r>
              <a:rPr lang="en-US" dirty="0" err="1"/>
              <a:t>classList</a:t>
            </a:r>
            <a:r>
              <a:rPr lang="en-US" dirty="0"/>
              <a:t> attribute array keeps track of CSS classes of the node</a:t>
            </a:r>
          </a:p>
          <a:p>
            <a:r>
              <a:rPr lang="en-US" dirty="0" err="1"/>
              <a:t>parentNode</a:t>
            </a:r>
            <a:r>
              <a:rPr lang="en-US" dirty="0"/>
              <a:t> attribute refers to the node’s parent element</a:t>
            </a:r>
          </a:p>
          <a:p>
            <a:r>
              <a:rPr lang="en-US" dirty="0" err="1"/>
              <a:t>childNodes</a:t>
            </a:r>
            <a:r>
              <a:rPr lang="en-US" dirty="0"/>
              <a:t> / children refers to the node’s nested children</a:t>
            </a:r>
          </a:p>
          <a:p>
            <a:r>
              <a:rPr lang="en-US" dirty="0" err="1"/>
              <a:t>nextElementSibiling</a:t>
            </a:r>
            <a:r>
              <a:rPr lang="en-US" dirty="0"/>
              <a:t> refers to the bottom-next same-level node</a:t>
            </a:r>
          </a:p>
          <a:p>
            <a:r>
              <a:rPr lang="en-US" dirty="0" err="1"/>
              <a:t>previousElementSibiling</a:t>
            </a:r>
            <a:r>
              <a:rPr lang="en-US" dirty="0"/>
              <a:t> refers to the top-next same-level node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336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1E501-C2AD-C601-72EF-6823A9713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Modifying DOM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A6DE6-DC86-FC92-BA55-8304D3928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appendChild</a:t>
            </a:r>
            <a:r>
              <a:rPr lang="en-US" dirty="0"/>
              <a:t>(c) nests an HTML element inside the current node</a:t>
            </a:r>
          </a:p>
          <a:p>
            <a:r>
              <a:rPr lang="en-US" dirty="0" err="1"/>
              <a:t>inserBefore</a:t>
            </a:r>
            <a:r>
              <a:rPr lang="en-US" dirty="0"/>
              <a:t>(item1, item2) moves item1 just before item2</a:t>
            </a:r>
          </a:p>
          <a:p>
            <a:r>
              <a:rPr lang="en-US" dirty="0" err="1"/>
              <a:t>removeChild</a:t>
            </a:r>
            <a:r>
              <a:rPr lang="en-US" dirty="0"/>
              <a:t>(c) deletes a node</a:t>
            </a:r>
          </a:p>
          <a:p>
            <a:r>
              <a:rPr lang="en-US" dirty="0" err="1"/>
              <a:t>createElement</a:t>
            </a:r>
            <a:r>
              <a:rPr lang="en-US" dirty="0"/>
              <a:t>(tag) creates a HTML element</a:t>
            </a:r>
          </a:p>
          <a:p>
            <a:r>
              <a:rPr lang="en-US" dirty="0" err="1"/>
              <a:t>createTextnode</a:t>
            </a:r>
            <a:r>
              <a:rPr lang="en-US" dirty="0"/>
              <a:t>(text) creates HTML text</a:t>
            </a:r>
          </a:p>
          <a:p>
            <a:r>
              <a:rPr lang="en-US" dirty="0" err="1"/>
              <a:t>cloneNode</a:t>
            </a:r>
            <a:r>
              <a:rPr lang="en-US" dirty="0"/>
              <a:t>(false) clones a given node</a:t>
            </a:r>
          </a:p>
          <a:p>
            <a:r>
              <a:rPr lang="en-US" dirty="0" err="1"/>
              <a:t>cloneNode</a:t>
            </a:r>
            <a:r>
              <a:rPr lang="en-US" dirty="0"/>
              <a:t>(true) clones a given node and its children nodes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05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CC1A2-CF3E-D9ED-CE13-943462E24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Driven 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B4D1E-D532-6A65-0FB8-B9ACD787F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Event-driven programming is a style that is responsive on various events such as:</a:t>
            </a:r>
          </a:p>
          <a:p>
            <a:pPr lvl="1"/>
            <a:r>
              <a:rPr lang="en-US" dirty="0"/>
              <a:t>Change</a:t>
            </a:r>
          </a:p>
          <a:p>
            <a:pPr lvl="1"/>
            <a:r>
              <a:rPr lang="en-US" dirty="0"/>
              <a:t>Input</a:t>
            </a:r>
          </a:p>
          <a:p>
            <a:pPr lvl="1"/>
            <a:r>
              <a:rPr lang="en-US" dirty="0"/>
              <a:t>Load</a:t>
            </a:r>
          </a:p>
          <a:p>
            <a:pPr lvl="1"/>
            <a:r>
              <a:rPr lang="en-US" dirty="0" err="1"/>
              <a:t>DOMContentLoaded</a:t>
            </a:r>
            <a:endParaRPr lang="en-US" dirty="0"/>
          </a:p>
          <a:p>
            <a:pPr lvl="1"/>
            <a:r>
              <a:rPr lang="en-US" dirty="0"/>
              <a:t>Focus</a:t>
            </a:r>
          </a:p>
          <a:p>
            <a:pPr lvl="1"/>
            <a:r>
              <a:rPr lang="en-US" dirty="0"/>
              <a:t>Blur</a:t>
            </a:r>
          </a:p>
          <a:p>
            <a:pPr lvl="1"/>
            <a:r>
              <a:rPr lang="en-US" dirty="0"/>
              <a:t>Submit</a:t>
            </a:r>
          </a:p>
          <a:p>
            <a:pPr lvl="1"/>
            <a:r>
              <a:rPr lang="en-US" dirty="0"/>
              <a:t>Keyboard</a:t>
            </a:r>
          </a:p>
          <a:p>
            <a:pPr lvl="1"/>
            <a:r>
              <a:rPr lang="en-US" dirty="0"/>
              <a:t>Mouse</a:t>
            </a:r>
          </a:p>
          <a:p>
            <a:r>
              <a:rPr lang="en-US" dirty="0"/>
              <a:t>Developers write custom functions to handle events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894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37DC4-8D7B-A58C-4D8C-09093D84A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Registering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919C4-ABF9-BEBC-FD72-24A8E5BBE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function to “fire” when an event occurs, we need to register it</a:t>
            </a:r>
          </a:p>
          <a:p>
            <a:r>
              <a:rPr lang="en-US" dirty="0"/>
              <a:t>Three ways to register it:</a:t>
            </a:r>
          </a:p>
          <a:p>
            <a:pPr lvl="1"/>
            <a:r>
              <a:rPr lang="en-US" dirty="0"/>
              <a:t>In the HTML tag using on</a:t>
            </a:r>
            <a:r>
              <a:rPr lang="en-US" i="1" dirty="0"/>
              <a:t>&lt;Event&gt;</a:t>
            </a:r>
            <a:r>
              <a:rPr lang="en-US" dirty="0"/>
              <a:t> = </a:t>
            </a:r>
            <a:r>
              <a:rPr lang="en-US" dirty="0" err="1"/>
              <a:t>functionHandlerName</a:t>
            </a:r>
            <a:endParaRPr lang="en-US" dirty="0"/>
          </a:p>
          <a:p>
            <a:pPr lvl="1"/>
            <a:r>
              <a:rPr lang="en-US" dirty="0"/>
              <a:t>In the script using a combination of </a:t>
            </a:r>
            <a:r>
              <a:rPr lang="en-US" dirty="0" err="1"/>
              <a:t>querySelector</a:t>
            </a:r>
            <a:r>
              <a:rPr lang="en-US" dirty="0"/>
              <a:t> and previous example</a:t>
            </a:r>
          </a:p>
          <a:p>
            <a:pPr lvl="1"/>
            <a:r>
              <a:rPr lang="en-US" dirty="0"/>
              <a:t>In the script using </a:t>
            </a:r>
            <a:r>
              <a:rPr lang="en-US" dirty="0" err="1"/>
              <a:t>addEventListener</a:t>
            </a:r>
            <a:r>
              <a:rPr lang="en-US" dirty="0"/>
              <a:t>(</a:t>
            </a:r>
            <a:r>
              <a:rPr lang="en-US" dirty="0" err="1"/>
              <a:t>eventType</a:t>
            </a:r>
            <a:r>
              <a:rPr lang="en-US" dirty="0"/>
              <a:t>, </a:t>
            </a:r>
            <a:r>
              <a:rPr lang="en-US" dirty="0" err="1"/>
              <a:t>eventHandler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19419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39117-A9F6-9D11-9A22-AA7964743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B0C00-4D8A-9DAA-6D36-A1076445E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613145" cy="4351338"/>
          </a:xfrm>
        </p:spPr>
        <p:txBody>
          <a:bodyPr/>
          <a:lstStyle/>
          <a:p>
            <a:r>
              <a:rPr lang="en-US" dirty="0">
                <a:hlinkClick r:id="rId2"/>
              </a:rPr>
              <a:t>Eloquent JavaScript Book Link</a:t>
            </a:r>
            <a:endParaRPr lang="en-US" dirty="0"/>
          </a:p>
          <a:p>
            <a:r>
              <a:rPr lang="en-US" dirty="0"/>
              <a:t>Read Chapters</a:t>
            </a:r>
          </a:p>
          <a:p>
            <a:pPr lvl="1"/>
            <a:r>
              <a:rPr lang="en-US" dirty="0"/>
              <a:t>1-4 and 13-15</a:t>
            </a:r>
          </a:p>
        </p:txBody>
      </p:sp>
      <p:pic>
        <p:nvPicPr>
          <p:cNvPr id="7" name="Picture 6" descr="A book cover with a bird&#10;&#10;AI-generated content may be incorrect.">
            <a:extLst>
              <a:ext uri="{FF2B5EF4-FFF2-40B4-BE49-F238E27FC236}">
                <a16:creationId xmlns:a16="http://schemas.microsoft.com/office/drawing/2014/main" id="{8FFFD6EE-C1A9-951B-B008-E2EC57C90B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4097" y="1612517"/>
            <a:ext cx="3386580" cy="447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663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4020</TotalTime>
  <Words>883</Words>
  <Application>Microsoft Office PowerPoint</Application>
  <PresentationFormat>Widescreen</PresentationFormat>
  <Paragraphs>135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Consolas</vt:lpstr>
      <vt:lpstr>Georgia</vt:lpstr>
      <vt:lpstr>Office Theme</vt:lpstr>
      <vt:lpstr>1_Office Theme</vt:lpstr>
      <vt:lpstr>WebDev</vt:lpstr>
      <vt:lpstr>Webpage Composition</vt:lpstr>
      <vt:lpstr>JavaScript Fundamentals</vt:lpstr>
      <vt:lpstr>Conditions</vt:lpstr>
      <vt:lpstr>Loops</vt:lpstr>
      <vt:lpstr>Functions</vt:lpstr>
      <vt:lpstr>JavaScript in Browser</vt:lpstr>
      <vt:lpstr>Window</vt:lpstr>
      <vt:lpstr>DOM</vt:lpstr>
      <vt:lpstr>More on DOM attributes</vt:lpstr>
      <vt:lpstr>Modifying DOM </vt:lpstr>
      <vt:lpstr>Event Driven JS</vt:lpstr>
      <vt:lpstr>Event Registering</vt:lpstr>
      <vt:lpstr>Reading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 Baci</dc:creator>
  <cp:lastModifiedBy>Nikola Baci</cp:lastModifiedBy>
  <cp:revision>14</cp:revision>
  <dcterms:created xsi:type="dcterms:W3CDTF">2025-07-07T15:37:20Z</dcterms:created>
  <dcterms:modified xsi:type="dcterms:W3CDTF">2025-09-30T13:35:04Z</dcterms:modified>
</cp:coreProperties>
</file>