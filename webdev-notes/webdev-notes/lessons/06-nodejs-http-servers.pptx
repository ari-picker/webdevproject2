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1" r:id="rId3"/>
    <p:sldId id="262" r:id="rId4"/>
    <p:sldId id="263" r:id="rId5"/>
    <p:sldId id="270" r:id="rId6"/>
    <p:sldId id="269" r:id="rId7"/>
    <p:sldId id="267" r:id="rId8"/>
    <p:sldId id="272" r:id="rId9"/>
    <p:sldId id="273" r:id="rId10"/>
    <p:sldId id="275" r:id="rId11"/>
    <p:sldId id="268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5" r:id="rId20"/>
    <p:sldId id="283" r:id="rId21"/>
    <p:sldId id="286" r:id="rId22"/>
    <p:sldId id="287" r:id="rId23"/>
    <p:sldId id="288" r:id="rId24"/>
    <p:sldId id="26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ozilla.org/enUS/Guides/Messages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media-types/media-types.x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dejs/node/blob/main/lib/_http_server.js#L200" TargetMode="External"/><Relationship Id="rId2" Type="http://schemas.openxmlformats.org/officeDocument/2006/relationships/hyperlink" Target="https://github.com/nodejs/node/blob/main/lib/_http_server.js#L56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odejs/node/blob/main/lib/_http_incoming.js#L50" TargetMode="External"/><Relationship Id="rId4" Type="http://schemas.openxmlformats.org/officeDocument/2006/relationships/hyperlink" Target="https://github.com/nodejs/node/blob/main/lib/_http_client.js#L191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dejs/node/blob/main/lib/_http_server.js#L200" TargetMode="External"/><Relationship Id="rId2" Type="http://schemas.openxmlformats.org/officeDocument/2006/relationships/hyperlink" Target="https://github.com/nodejs/node/blob/main/lib/_http_server.js#L56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nodejs/node/blob/main/lib/_http_incoming.js#L50" TargetMode="External"/><Relationship Id="rId4" Type="http://schemas.openxmlformats.org/officeDocument/2006/relationships/hyperlink" Target="https://github.com/nodejs/node/blob/main/lib/_http_client.js#L191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odejs/node/blob/main/lib/_http_server.j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ttpwg.org/specs/rfc9110.html" TargetMode="External"/><Relationship Id="rId2" Type="http://schemas.openxmlformats.org/officeDocument/2006/relationships/hyperlink" Target="https://developer.mozilla.org/en-US/docs/Learn_web_development/Howto/Web_mechanics/What_is_a_web_serv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docs/latest/api/htt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E09-76E8-D86D-9D4C-5B29FE81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AA-F080-BAF6-8FD0-378166EA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server is the hardware and software that</a:t>
            </a:r>
          </a:p>
          <a:p>
            <a:pPr lvl="1"/>
            <a:r>
              <a:rPr lang="en-US" dirty="0"/>
              <a:t>Stores all source files and resources (html, </a:t>
            </a:r>
            <a:r>
              <a:rPr lang="en-US" dirty="0" err="1"/>
              <a:t>css</a:t>
            </a:r>
            <a:r>
              <a:rPr lang="en-US" dirty="0"/>
              <a:t>, </a:t>
            </a:r>
            <a:r>
              <a:rPr lang="en-US" dirty="0" err="1"/>
              <a:t>js</a:t>
            </a:r>
            <a:r>
              <a:rPr lang="en-US" dirty="0"/>
              <a:t>, images)</a:t>
            </a:r>
          </a:p>
          <a:p>
            <a:pPr lvl="1"/>
            <a:r>
              <a:rPr lang="en-US" dirty="0"/>
              <a:t>Allows connection to the internet</a:t>
            </a:r>
          </a:p>
          <a:p>
            <a:pPr lvl="1"/>
            <a:r>
              <a:rPr lang="en-US" dirty="0"/>
              <a:t>Communicates with other servers and web browsers (HTTPS)</a:t>
            </a:r>
          </a:p>
          <a:p>
            <a:r>
              <a:rPr lang="en-US" dirty="0"/>
              <a:t>Types of web servers</a:t>
            </a:r>
          </a:p>
          <a:p>
            <a:pPr lvl="1"/>
            <a:r>
              <a:rPr lang="en-US" dirty="0"/>
              <a:t>Static – simply servers the hosted files without modifying them</a:t>
            </a:r>
          </a:p>
          <a:p>
            <a:pPr lvl="1"/>
            <a:r>
              <a:rPr lang="en-US" dirty="0"/>
              <a:t>Dynamic – populates the HTML templates with data before sending them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38B9-8D55-D088-4A8F-95994689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11DD2-A89E-6716-F6A7-B66CF8FDF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Application-layer protocol</a:t>
            </a:r>
          </a:p>
          <a:p>
            <a:r>
              <a:rPr lang="en-US" dirty="0"/>
              <a:t>Used to transport files, communication and APIs in the web</a:t>
            </a:r>
          </a:p>
          <a:p>
            <a:r>
              <a:rPr lang="en-US" dirty="0"/>
              <a:t>HTTP Components</a:t>
            </a:r>
          </a:p>
          <a:p>
            <a:pPr lvl="1"/>
            <a:r>
              <a:rPr lang="en-US" dirty="0"/>
              <a:t>HTTP Headers</a:t>
            </a:r>
          </a:p>
          <a:p>
            <a:pPr lvl="1"/>
            <a:r>
              <a:rPr lang="en-US" dirty="0"/>
              <a:t>HTTP Request Methods</a:t>
            </a:r>
          </a:p>
          <a:p>
            <a:pPr lvl="1"/>
            <a:r>
              <a:rPr lang="en-US" dirty="0"/>
              <a:t>HTTP Response Codes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C6CA-85BC-4897-2C53-660374D1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27A2-6279-F760-DA50-B20E8DDC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 and servers communicate via a series of request/response messages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95BFFB7-82B9-A2BA-C19A-0924580B6B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FE51A-10AB-EEE8-1B0C-508EBCD2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10" y="3116301"/>
            <a:ext cx="7322379" cy="270570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385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A040-AC33-FBFF-C245-317F1620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2418-D561-DDB4-BD69-768458AF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2EF17-04F0-EB8A-481A-7AB677AE73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 Line</a:t>
            </a:r>
          </a:p>
          <a:p>
            <a:pPr lvl="1"/>
            <a:r>
              <a:rPr lang="en-US" dirty="0"/>
              <a:t>Request Method</a:t>
            </a:r>
          </a:p>
          <a:p>
            <a:pPr lvl="1"/>
            <a:r>
              <a:rPr lang="en-US" dirty="0"/>
              <a:t>Request Target</a:t>
            </a:r>
          </a:p>
          <a:p>
            <a:pPr lvl="1"/>
            <a:r>
              <a:rPr lang="en-US" dirty="0"/>
              <a:t>Request Protocol</a:t>
            </a:r>
          </a:p>
          <a:p>
            <a:r>
              <a:rPr lang="en-US" dirty="0"/>
              <a:t>Header</a:t>
            </a:r>
          </a:p>
          <a:p>
            <a:pPr lvl="1"/>
            <a:r>
              <a:rPr lang="en-US" dirty="0"/>
              <a:t>Request headers</a:t>
            </a:r>
          </a:p>
          <a:p>
            <a:pPr lvl="1"/>
            <a:r>
              <a:rPr lang="en-US" dirty="0"/>
              <a:t>Representation headers</a:t>
            </a:r>
          </a:p>
          <a:p>
            <a:r>
              <a:rPr lang="en-US" dirty="0"/>
              <a:t>Body</a:t>
            </a:r>
          </a:p>
          <a:p>
            <a:pPr lvl="1"/>
            <a:r>
              <a:rPr lang="en-US" dirty="0"/>
              <a:t>In case the browser is sending data to the server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4E8407B-F025-E934-0D1C-FC9719A06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43EDE7-0260-F244-B6B9-0574EEB4CB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60699"/>
          <a:stretch>
            <a:fillRect/>
          </a:stretch>
        </p:blipFill>
        <p:spPr>
          <a:xfrm>
            <a:off x="7228197" y="1698964"/>
            <a:ext cx="3983542" cy="37453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1101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DEA3D9-AF7B-206B-82C6-8ED57782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Start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BF6580-2EBD-D324-9C93-8E6AFED9F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3"/>
            <a:ext cx="5157787" cy="45085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Request Methods</a:t>
            </a:r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GET</a:t>
            </a:r>
            <a:r>
              <a:rPr lang="en-US" dirty="0"/>
              <a:t> – used to retrieve data/files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HEAD</a:t>
            </a:r>
            <a:r>
              <a:rPr lang="en-US" dirty="0"/>
              <a:t> – exactly like GET, but has no content, only header data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POST</a:t>
            </a:r>
            <a:r>
              <a:rPr lang="en-US" dirty="0"/>
              <a:t> – used to save data/resource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PUT</a:t>
            </a:r>
            <a:r>
              <a:rPr lang="en-US" dirty="0"/>
              <a:t> – used to replace data/resources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PATCH</a:t>
            </a:r>
            <a:r>
              <a:rPr lang="en-US" dirty="0"/>
              <a:t> – used to replace part of the data/resources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DELETE </a:t>
            </a:r>
            <a:r>
              <a:rPr lang="en-US" dirty="0"/>
              <a:t>– used to delete data/resources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8AE92D3-DC7A-AAD9-7A55-27A45C9F4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81163"/>
            <a:ext cx="5183188" cy="45085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Request Target</a:t>
            </a:r>
          </a:p>
          <a:p>
            <a:pPr lvl="1"/>
            <a:r>
              <a:rPr lang="en-US" dirty="0"/>
              <a:t>An absolute or relative URL that identifies what resource is being requested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GET /</a:t>
            </a:r>
            <a:r>
              <a:rPr lang="en-US" dirty="0" err="1"/>
              <a:t>enUS</a:t>
            </a:r>
            <a:r>
              <a:rPr lang="en-US" dirty="0"/>
              <a:t>/Guides/Messages</a:t>
            </a:r>
          </a:p>
          <a:p>
            <a:pPr lvl="2"/>
            <a:r>
              <a:rPr lang="en-US" dirty="0"/>
              <a:t>GET  </a:t>
            </a:r>
            <a:r>
              <a:rPr lang="en-US" dirty="0">
                <a:hlinkClick r:id="rId2"/>
              </a:rPr>
              <a:t>https://mozilla.org/enUS/Guides/Messages</a:t>
            </a:r>
            <a:endParaRPr lang="en-US" dirty="0"/>
          </a:p>
          <a:p>
            <a:r>
              <a:rPr lang="en-US" dirty="0"/>
              <a:t>Request Protocol</a:t>
            </a:r>
          </a:p>
          <a:p>
            <a:pPr lvl="1"/>
            <a:r>
              <a:rPr lang="en-US" i="1" dirty="0"/>
              <a:t>version</a:t>
            </a:r>
            <a:r>
              <a:rPr lang="en-US" dirty="0"/>
              <a:t>, which defines the structure message, indicating the expected version to use for the response</a:t>
            </a:r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77946103-65D0-75B2-53CF-891340A6B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65" r="60699" b="69299"/>
          <a:stretch>
            <a:fillRect/>
          </a:stretch>
        </p:blipFill>
        <p:spPr>
          <a:xfrm>
            <a:off x="6488406" y="740720"/>
            <a:ext cx="3983542" cy="5743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986120C-2D03-16FA-9D78-55495DB20A26}"/>
              </a:ext>
            </a:extLst>
          </p:cNvPr>
          <p:cNvSpPr/>
          <p:nvPr/>
        </p:nvSpPr>
        <p:spPr>
          <a:xfrm>
            <a:off x="6929222" y="900615"/>
            <a:ext cx="491662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141182-23E2-9F6E-21A6-22826672BB7F}"/>
              </a:ext>
            </a:extLst>
          </p:cNvPr>
          <p:cNvSpPr/>
          <p:nvPr/>
        </p:nvSpPr>
        <p:spPr>
          <a:xfrm>
            <a:off x="7466068" y="900615"/>
            <a:ext cx="120235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5AF901-A619-7C96-6C40-6AB6B1D5C1A8}"/>
              </a:ext>
            </a:extLst>
          </p:cNvPr>
          <p:cNvSpPr/>
          <p:nvPr/>
        </p:nvSpPr>
        <p:spPr>
          <a:xfrm>
            <a:off x="7631487" y="900615"/>
            <a:ext cx="708392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4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B9AA-8CA5-D3CB-977B-75252D44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Header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5A0A82-583F-DDF5-33D1-6221410CEB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988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GET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/home.html </a:t>
            </a:r>
            <a:r>
              <a:rPr lang="en-US" sz="1800" dirty="0">
                <a:solidFill>
                  <a:srgbClr val="FF00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HTTP/1.1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Host: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developer.mozilla.org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User-Agent: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Mozilla/5.0 (Macintosh; Intel Mac OS X 10.9; rv:50.0) Gecko/20100101 Firefox/50.0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Accept: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text/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html,application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/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xhtml+xml,application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/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xml;q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=0.9,*/*;q=0.8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Accept-Language: 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en-US,en;q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=0.5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Accept-Encoding: 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gzip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deflate, 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br</a:t>
            </a:r>
            <a:endPara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sz="1800" dirty="0" err="1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Referer</a:t>
            </a:r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https://developer.mozilla.org/testpage.html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Connection: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keep-alive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Upgrade-Insecure-Requests: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1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If-Modified-Since: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Mon, 18 Jul 2016 02:36:04 GMT</a:t>
            </a:r>
          </a:p>
        </p:txBody>
      </p:sp>
    </p:spTree>
    <p:extLst>
      <p:ext uri="{BB962C8B-B14F-4D97-AF65-F5344CB8AC3E}">
        <p14:creationId xmlns:p14="http://schemas.microsoft.com/office/powerpoint/2010/main" val="32263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EDAC-A30B-B75F-E7EA-0BDBE836A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0E18-0553-555B-7182-30F10F49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Body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1F545F-7417-741E-E675-5483FC9EC71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57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Request body carries information to the server</a:t>
            </a:r>
          </a:p>
          <a:p>
            <a:r>
              <a:rPr lang="en-US" sz="2200" dirty="0"/>
              <a:t>Only </a:t>
            </a:r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PATCH</a:t>
            </a:r>
            <a:r>
              <a:rPr lang="en-US" sz="2200" dirty="0"/>
              <a:t>, </a:t>
            </a:r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PUT</a:t>
            </a:r>
            <a:r>
              <a:rPr lang="en-US" sz="2200" dirty="0"/>
              <a:t> and </a:t>
            </a:r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POST</a:t>
            </a:r>
            <a:r>
              <a:rPr lang="en-US" sz="2200" dirty="0"/>
              <a:t> methods have a request body</a:t>
            </a:r>
          </a:p>
          <a:p>
            <a:r>
              <a:rPr lang="en-US" sz="2200" dirty="0"/>
              <a:t>Request example with body (highlighted here):</a:t>
            </a:r>
          </a:p>
          <a:p>
            <a:endParaRPr lang="en-US" sz="2200" dirty="0"/>
          </a:p>
          <a:p>
            <a:pPr marL="457200" lvl="1" indent="0">
              <a:buNone/>
            </a:pPr>
            <a:r>
              <a:rPr lang="en-US" sz="1800" dirty="0"/>
              <a:t>POST /users HTTP/1.1</a:t>
            </a:r>
          </a:p>
          <a:p>
            <a:pPr marL="457200" lvl="1" indent="0">
              <a:buNone/>
            </a:pPr>
            <a:r>
              <a:rPr lang="en-US" sz="1800" dirty="0"/>
              <a:t>Host: example.com</a:t>
            </a:r>
          </a:p>
          <a:p>
            <a:pPr marL="457200" lvl="1" indent="0">
              <a:buNone/>
            </a:pPr>
            <a:r>
              <a:rPr lang="en-US" sz="1800" dirty="0"/>
              <a:t>Content-Type: application/x-www-form-</a:t>
            </a:r>
            <a:r>
              <a:rPr lang="en-US" sz="1800" dirty="0" err="1"/>
              <a:t>urlencoded</a:t>
            </a:r>
            <a:endParaRPr lang="en-US" sz="1800" dirty="0"/>
          </a:p>
          <a:p>
            <a:pPr marL="457200" lvl="1" indent="0">
              <a:buNone/>
            </a:pPr>
            <a:r>
              <a:rPr lang="en-US" sz="1800" dirty="0"/>
              <a:t>Content-Length: 49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en-US" sz="1800" dirty="0">
                <a:solidFill>
                  <a:srgbClr val="FFFF00"/>
                </a:solidFill>
              </a:rPr>
              <a:t>name=FirstName+LastName&amp;email=bsmth%40example.com</a:t>
            </a:r>
          </a:p>
        </p:txBody>
      </p:sp>
    </p:spTree>
    <p:extLst>
      <p:ext uri="{BB962C8B-B14F-4D97-AF65-F5344CB8AC3E}">
        <p14:creationId xmlns:p14="http://schemas.microsoft.com/office/powerpoint/2010/main" val="282705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872E-725B-C54A-8145-C0F92E32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047F-DBFF-AEA9-9DF9-7A6F52284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DBDF-C2DA-9E5E-F76B-CE01B11083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 Line</a:t>
            </a:r>
          </a:p>
          <a:p>
            <a:pPr lvl="1"/>
            <a:r>
              <a:rPr lang="en-US" dirty="0"/>
              <a:t>Response Protocol</a:t>
            </a:r>
          </a:p>
          <a:p>
            <a:pPr lvl="1"/>
            <a:r>
              <a:rPr lang="en-US" dirty="0"/>
              <a:t>Response Code</a:t>
            </a:r>
          </a:p>
          <a:p>
            <a:pPr lvl="1"/>
            <a:r>
              <a:rPr lang="en-US" dirty="0"/>
              <a:t>Response Message</a:t>
            </a:r>
          </a:p>
          <a:p>
            <a:r>
              <a:rPr lang="en-US" dirty="0"/>
              <a:t>Header</a:t>
            </a:r>
          </a:p>
          <a:p>
            <a:pPr lvl="1"/>
            <a:r>
              <a:rPr lang="en-US" dirty="0"/>
              <a:t>Response headers</a:t>
            </a:r>
          </a:p>
          <a:p>
            <a:pPr lvl="1"/>
            <a:r>
              <a:rPr lang="en-US" dirty="0"/>
              <a:t>Representation headers</a:t>
            </a:r>
          </a:p>
          <a:p>
            <a:r>
              <a:rPr lang="en-US" dirty="0"/>
              <a:t>Body</a:t>
            </a:r>
          </a:p>
          <a:p>
            <a:pPr lvl="1"/>
            <a:r>
              <a:rPr lang="en-US" dirty="0"/>
              <a:t>The data the server is sending to the client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1527D3E-A740-185B-DFC5-E3682DB3A8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FDFB3BD-3A97-54F8-415D-D80EFC0191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61597" t="13896" r="3001" b="3906"/>
          <a:stretch>
            <a:fillRect/>
          </a:stretch>
        </p:blipFill>
        <p:spPr>
          <a:xfrm>
            <a:off x="7228197" y="2109092"/>
            <a:ext cx="3588374" cy="30786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7180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3B0A-F3AF-B2A2-DD23-E856973A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CF9B49-5D56-F075-EC53-8FA402EF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Start 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15819E-2B50-8C4D-4679-62825BF95D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Request Methods</a:t>
            </a:r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1"/>
            <a:r>
              <a:rPr lang="en-US" dirty="0"/>
              <a:t>Informational responses: 1xx</a:t>
            </a:r>
          </a:p>
          <a:p>
            <a:pPr lvl="1"/>
            <a:r>
              <a:rPr lang="en-US" dirty="0"/>
              <a:t>Successful responses: 2xx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200 (OK) </a:t>
            </a:r>
            <a:b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</a:b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201 (Created)</a:t>
            </a:r>
          </a:p>
          <a:p>
            <a:pPr lvl="1"/>
            <a:r>
              <a:rPr lang="en-US" dirty="0"/>
              <a:t>Redirection responses: 3xx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301 (Moved Permanently)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304 (Not Modified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B36F7-236D-6937-8249-78266037DC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pPr lvl="1"/>
            <a:r>
              <a:rPr lang="en-US" dirty="0"/>
              <a:t>Client error responses: 4xx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401 (Not Authorized), 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403 (Forbidden)</a:t>
            </a:r>
          </a:p>
          <a:p>
            <a:pPr lvl="2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404 (Not Found)</a:t>
            </a:r>
          </a:p>
          <a:p>
            <a:pPr lvl="1"/>
            <a:r>
              <a:rPr lang="en-US" dirty="0"/>
              <a:t>Server error responses: 5xx</a:t>
            </a:r>
          </a:p>
          <a:p>
            <a:pPr lvl="2"/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500 (Internal Server Error) </a:t>
            </a:r>
          </a:p>
          <a:p>
            <a:pPr lvl="2"/>
            <a:r>
              <a:rPr lang="en-US" sz="22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503 (Service Not Available)</a:t>
            </a:r>
          </a:p>
          <a:p>
            <a:endParaRPr lang="en-US" dirty="0"/>
          </a:p>
        </p:txBody>
      </p:sp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4331A1FD-84A9-6FF0-0C77-B859368A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88" t="14700" r="1811" b="69964"/>
          <a:stretch>
            <a:fillRect/>
          </a:stretch>
        </p:blipFill>
        <p:spPr>
          <a:xfrm>
            <a:off x="6488406" y="740720"/>
            <a:ext cx="3983542" cy="57437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6C95ADD-D59E-5A2D-CE7C-9DE2C86C546E}"/>
              </a:ext>
            </a:extLst>
          </p:cNvPr>
          <p:cNvSpPr/>
          <p:nvPr/>
        </p:nvSpPr>
        <p:spPr>
          <a:xfrm>
            <a:off x="6929222" y="900615"/>
            <a:ext cx="712990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12890-1998-7722-487B-1845FAFA67FA}"/>
              </a:ext>
            </a:extLst>
          </p:cNvPr>
          <p:cNvSpPr/>
          <p:nvPr/>
        </p:nvSpPr>
        <p:spPr>
          <a:xfrm>
            <a:off x="7701179" y="900615"/>
            <a:ext cx="275700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9809E-9937-4354-BF0C-97B1E4AEB604}"/>
              </a:ext>
            </a:extLst>
          </p:cNvPr>
          <p:cNvSpPr/>
          <p:nvPr/>
        </p:nvSpPr>
        <p:spPr>
          <a:xfrm>
            <a:off x="8035846" y="900615"/>
            <a:ext cx="795695" cy="330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69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8525-B639-7715-4087-E9C79DF0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DF3F-6040-767F-E3C1-8732F933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 Header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00944E-645C-DDDE-73BE-71B825BEA14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66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200 OK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Access-Control-Allow-Origin: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*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Connection: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Keep-Alive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Content-Encoding: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gzip</a:t>
            </a:r>
            <a:endParaRPr lang="en-US" sz="18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Content-Type: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text/html; charset=utf-8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Date: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Mon, 18 Jul 2016 16:06:00 GMT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ETag: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"c561c68d0ba92bbeb8b0f612a9199f722e3a621a"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Keep-Alive: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timeout=5, max=997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Last-Modified: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Mon, 18 Jul 2016 02:36:04 GMT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Server: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Apache</a:t>
            </a:r>
          </a:p>
          <a:p>
            <a:r>
              <a:rPr lang="en-US" sz="1800" dirty="0">
                <a:solidFill>
                  <a:srgbClr val="FFFF00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Set-Cookie: </a:t>
            </a:r>
            <a:r>
              <a:rPr lang="en-US"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my-key=my value; expires=Mon, 17-Jul-2017 16:06:00 GMT; Max-Age=31449600; Path=/; secure</a:t>
            </a:r>
          </a:p>
        </p:txBody>
      </p:sp>
    </p:spTree>
    <p:extLst>
      <p:ext uri="{BB962C8B-B14F-4D97-AF65-F5344CB8AC3E}">
        <p14:creationId xmlns:p14="http://schemas.microsoft.com/office/powerpoint/2010/main" val="3637840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8E72-DCA5-EE12-B2A4-32066379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Types (MIME)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43F3D-FBC6-6427-F076-21381F183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Browsers use MIME type to determine the type and how to interpret the file (extensions are not use!)</a:t>
            </a:r>
          </a:p>
          <a:p>
            <a:r>
              <a:rPr lang="en-US" dirty="0"/>
              <a:t>MIME types have 2 parts in this format: 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type/subtype</a:t>
            </a:r>
          </a:p>
          <a:p>
            <a:r>
              <a:rPr lang="en-US" dirty="0">
                <a:cs typeface="Cascadia Code Light" panose="020B0609020000020004" pitchFamily="49" charset="0"/>
              </a:rPr>
              <a:t>Main types and their subtypes:</a:t>
            </a:r>
          </a:p>
          <a:p>
            <a:pPr lvl="1"/>
            <a:r>
              <a:rPr lang="en-US" dirty="0">
                <a:cs typeface="Cascadia Code Light" panose="020B0609020000020004" pitchFamily="49" charset="0"/>
              </a:rPr>
              <a:t>Text: text/plain, text/html, text/</a:t>
            </a:r>
            <a:r>
              <a:rPr lang="en-US" dirty="0" err="1">
                <a:cs typeface="Cascadia Code Light" panose="020B0609020000020004" pitchFamily="49" charset="0"/>
              </a:rPr>
              <a:t>css</a:t>
            </a:r>
            <a:r>
              <a:rPr lang="en-US" dirty="0">
                <a:cs typeface="Cascadia Code Light" panose="020B0609020000020004" pitchFamily="49" charset="0"/>
              </a:rPr>
              <a:t>, text/</a:t>
            </a:r>
            <a:r>
              <a:rPr lang="en-US" dirty="0" err="1">
                <a:cs typeface="Cascadia Code Light" panose="020B0609020000020004" pitchFamily="49" charset="0"/>
              </a:rPr>
              <a:t>javascript</a:t>
            </a:r>
            <a:endParaRPr lang="en-US" dirty="0">
              <a:cs typeface="Cascadia Code Light" panose="020B0609020000020004" pitchFamily="49" charset="0"/>
            </a:endParaRPr>
          </a:p>
          <a:p>
            <a:pPr lvl="1"/>
            <a:r>
              <a:rPr lang="en-US" dirty="0">
                <a:cs typeface="Cascadia Code Light" panose="020B0609020000020004" pitchFamily="49" charset="0"/>
              </a:rPr>
              <a:t>Images: image/jpeg, image/</a:t>
            </a:r>
            <a:r>
              <a:rPr lang="en-US" dirty="0" err="1">
                <a:cs typeface="Cascadia Code Light" panose="020B0609020000020004" pitchFamily="49" charset="0"/>
              </a:rPr>
              <a:t>png</a:t>
            </a:r>
            <a:r>
              <a:rPr lang="en-US" dirty="0">
                <a:cs typeface="Cascadia Code Light" panose="020B0609020000020004" pitchFamily="49" charset="0"/>
              </a:rPr>
              <a:t>, image/</a:t>
            </a:r>
            <a:r>
              <a:rPr lang="en-US" dirty="0" err="1">
                <a:cs typeface="Cascadia Code Light" panose="020B0609020000020004" pitchFamily="49" charset="0"/>
              </a:rPr>
              <a:t>svg+xml</a:t>
            </a:r>
            <a:r>
              <a:rPr lang="en-US" dirty="0">
                <a:cs typeface="Cascadia Code Light" panose="020B0609020000020004" pitchFamily="49" charset="0"/>
              </a:rPr>
              <a:t>, image/</a:t>
            </a:r>
            <a:r>
              <a:rPr lang="en-US" dirty="0" err="1">
                <a:cs typeface="Cascadia Code Light" panose="020B0609020000020004" pitchFamily="49" charset="0"/>
              </a:rPr>
              <a:t>webp</a:t>
            </a:r>
            <a:endParaRPr lang="en-US" dirty="0">
              <a:cs typeface="Cascadia Code Light" panose="020B0609020000020004" pitchFamily="49" charset="0"/>
            </a:endParaRPr>
          </a:p>
          <a:p>
            <a:pPr lvl="1"/>
            <a:r>
              <a:rPr lang="en-US" dirty="0">
                <a:cs typeface="Cascadia Code Light" panose="020B0609020000020004" pitchFamily="49" charset="0"/>
              </a:rPr>
              <a:t>Others: multipart/form-data, application/</a:t>
            </a:r>
            <a:r>
              <a:rPr lang="en-US" dirty="0" err="1">
                <a:cs typeface="Cascadia Code Light" panose="020B0609020000020004" pitchFamily="49" charset="0"/>
              </a:rPr>
              <a:t>json</a:t>
            </a:r>
            <a:r>
              <a:rPr lang="en-US" dirty="0">
                <a:cs typeface="Cascadia Code Light" panose="020B0609020000020004" pitchFamily="49" charset="0"/>
              </a:rPr>
              <a:t>, video/mp4</a:t>
            </a:r>
          </a:p>
          <a:p>
            <a:pPr lvl="1"/>
            <a:r>
              <a:rPr lang="en-US" dirty="0">
                <a:cs typeface="Cascadia Code Light" panose="020B0609020000020004" pitchFamily="49" charset="0"/>
              </a:rPr>
              <a:t>Find all MIME’s </a:t>
            </a:r>
            <a:r>
              <a:rPr lang="en-US" dirty="0">
                <a:solidFill>
                  <a:srgbClr val="FFFF00"/>
                </a:solidFill>
                <a:cs typeface="Cascadia Code Light" panose="020B06090200000200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dirty="0">
              <a:solidFill>
                <a:srgbClr val="FFFF00"/>
              </a:solidFill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702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2292-7219-734D-5678-A3171740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Event Emitter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A1E1-2679-EAA0-2FF8-A751118A3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browser, JavaScript has the ability to listen on specific user events such as mouse click, key down/up, mouse over</a:t>
            </a:r>
          </a:p>
          <a:p>
            <a:r>
              <a:rPr lang="en-US" dirty="0"/>
              <a:t>NodeJS allows us to achieve this behavior in the backend as well using the 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events</a:t>
            </a:r>
            <a:r>
              <a:rPr lang="en-US" dirty="0"/>
              <a:t> module</a:t>
            </a:r>
          </a:p>
          <a:p>
            <a:r>
              <a:rPr lang="en-US" dirty="0"/>
              <a:t>With events module we can create an </a:t>
            </a:r>
            <a:r>
              <a:rPr lang="en-US" dirty="0" err="1"/>
              <a:t>EventEmitter</a:t>
            </a:r>
            <a:r>
              <a:rPr lang="en-US" dirty="0"/>
              <a:t> object</a:t>
            </a:r>
          </a:p>
          <a:p>
            <a:r>
              <a:rPr lang="en-US" dirty="0"/>
              <a:t>An </a:t>
            </a:r>
            <a:r>
              <a:rPr lang="en-US" dirty="0" err="1"/>
              <a:t>EventEmitter</a:t>
            </a:r>
            <a:r>
              <a:rPr lang="en-US" dirty="0"/>
              <a:t> object gives us access to methods such as: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emit(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eventName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) </a:t>
            </a:r>
            <a:r>
              <a:rPr lang="en-US" dirty="0"/>
              <a:t>– is used to trigger an event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on(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eventName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)</a:t>
            </a:r>
            <a:r>
              <a:rPr lang="en-US" dirty="0"/>
              <a:t> – is used to execute the </a:t>
            </a:r>
            <a:r>
              <a:rPr lang="en-US" dirty="0" err="1"/>
              <a:t>callbackFn</a:t>
            </a:r>
            <a:r>
              <a:rPr lang="en-US" dirty="0"/>
              <a:t> when the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eventName</a:t>
            </a:r>
            <a:r>
              <a:rPr lang="en-US" dirty="0"/>
              <a:t> is emitted</a:t>
            </a:r>
          </a:p>
          <a:p>
            <a:pPr lvl="1"/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once(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eventName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 ) </a:t>
            </a:r>
            <a:r>
              <a:rPr lang="en-US" dirty="0"/>
              <a:t>– same as </a:t>
            </a:r>
            <a:r>
              <a:rPr lang="en-US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on()</a:t>
            </a:r>
            <a:r>
              <a:rPr lang="en-US" dirty="0"/>
              <a:t>, but we only listen once</a:t>
            </a:r>
          </a:p>
        </p:txBody>
      </p:sp>
    </p:spTree>
    <p:extLst>
      <p:ext uri="{BB962C8B-B14F-4D97-AF65-F5344CB8AC3E}">
        <p14:creationId xmlns:p14="http://schemas.microsoft.com/office/powerpoint/2010/main" val="3179083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F9DA-D915-55DA-2DE1-529C7F35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EventEmitter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1AD96-1F61-3F39-DC71-479F486EA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node:events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2550"/>
              </a:lnSpc>
              <a:buNone/>
            </a:pPr>
            <a:endParaRPr lang="en-US" b="0" dirty="0">
              <a:solidFill>
                <a:srgbClr val="4FC1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'started'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25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eventEmitter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85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55F3-CAEC-CADC-7EB5-6F007B68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7DC6-197A-EEFC-0A45-7BB1B930E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create a server in NodeJS we will utilize the http module</a:t>
            </a:r>
          </a:p>
          <a:p>
            <a:r>
              <a:rPr lang="en-US" dirty="0"/>
              <a:t>The general steps to creating a server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Import the http 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the http module to create a server object: 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let server = </a:t>
            </a:r>
            <a:r>
              <a:rPr lang="en-US" sz="24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http.createServer</a:t>
            </a:r>
            <a:r>
              <a:rPr lang="en-US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();</a:t>
            </a:r>
            <a:endParaRPr lang="en-US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Have server listen to a designated port: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sz="24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server.listen</a:t>
            </a:r>
            <a:r>
              <a:rPr lang="en-US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(3000);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Listen for a connection from a client: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fr-FR" sz="24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server.on</a:t>
            </a:r>
            <a:r>
              <a:rPr lang="fr-FR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("</a:t>
            </a:r>
            <a:r>
              <a:rPr lang="fr-FR" sz="24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request</a:t>
            </a:r>
            <a:r>
              <a:rPr lang="fr-FR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", </a:t>
            </a:r>
            <a:r>
              <a:rPr lang="fr-FR" sz="24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r>
              <a:rPr lang="fr-FR" sz="24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Define the </a:t>
            </a:r>
            <a:r>
              <a:rPr lang="en-US" dirty="0" err="1"/>
              <a:t>callbackFn</a:t>
            </a:r>
            <a:r>
              <a:rPr lang="en-US" dirty="0"/>
              <a:t> to handle the request</a:t>
            </a:r>
          </a:p>
          <a:p>
            <a:pPr marL="914400" lvl="2" indent="0">
              <a:buNone/>
            </a:pPr>
            <a:endParaRPr lang="en-US" sz="28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marL="914400" lvl="2" indent="0">
              <a:buNone/>
            </a:pPr>
            <a:endParaRPr lang="en-US" sz="2800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419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2B14-5235-2D98-0C09-21CE3D03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Example – </a:t>
            </a:r>
            <a:r>
              <a:rPr lang="en-US" sz="3200" dirty="0"/>
              <a:t>http://localhost:3000/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F7D5-6BA4-6AE4-E9A4-442A4921D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co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createServer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"listening"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`Server running on port ${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"request"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Content-type"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/html"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"&lt;h1&gt;Homepage&lt;/h1&gt;"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res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end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06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5F-2A1D-55EC-9F4D-73B6E948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6B57-38F0-CC83-A593-8CDA0CA7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FC1FF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server</a:t>
            </a:r>
            <a:r>
              <a:rPr lang="en-US" dirty="0" err="1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on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"listening"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, </a:t>
            </a:r>
            <a:r>
              <a:rPr lang="en-US" dirty="0" err="1">
                <a:solidFill>
                  <a:srgbClr val="DCDCA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lvl="1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When the server starts running, it emits an event called </a:t>
            </a:r>
            <a:r>
              <a:rPr lang="en-US" sz="2000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listening</a:t>
            </a:r>
          </a:p>
          <a:p>
            <a:pPr lvl="1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We can then catch this signal and execute the </a:t>
            </a:r>
            <a:r>
              <a:rPr lang="en-US" sz="2000" dirty="0" err="1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endParaRPr lang="en-US" dirty="0">
              <a:solidFill>
                <a:srgbClr val="D4D4D4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2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In this case, as simple informative message: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Server running on port 3000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server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"request"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DCDCAA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)</a:t>
            </a:r>
          </a:p>
          <a:p>
            <a:pPr lvl="1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Whan a browser connects to the server and requests a resource from it, the server emits an event called </a:t>
            </a:r>
            <a:r>
              <a:rPr lang="en-US" sz="1800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request</a:t>
            </a:r>
          </a:p>
          <a:p>
            <a:pPr lvl="1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We can then catch this signal and execute the </a:t>
            </a:r>
            <a:r>
              <a:rPr lang="en-US" sz="2000" dirty="0" err="1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callBackFn</a:t>
            </a:r>
            <a:endParaRPr lang="en-US" dirty="0">
              <a:solidFill>
                <a:srgbClr val="D4D4D4"/>
              </a:solidFill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 lvl="2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In this case, send back a html h1 tag that reads: </a:t>
            </a:r>
            <a:r>
              <a:rPr lang="en-US" b="1" dirty="0">
                <a:solidFill>
                  <a:srgbClr val="D4D4D4"/>
                </a:solidFill>
                <a:cs typeface="Cascadia Code Light" panose="020B0609020000020004" pitchFamily="49" charset="0"/>
              </a:rPr>
              <a:t>Homepage</a:t>
            </a:r>
          </a:p>
          <a:p>
            <a:pPr lvl="2"/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This callback takes in two parameters: 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req</a:t>
            </a:r>
            <a:r>
              <a:rPr lang="en-US" dirty="0">
                <a:solidFill>
                  <a:srgbClr val="D4D4D4"/>
                </a:solidFill>
                <a:cs typeface="Cascadia Code Light" panose="020B0609020000020004" pitchFamily="49" charset="0"/>
              </a:rPr>
              <a:t> and </a:t>
            </a:r>
            <a:r>
              <a:rPr lang="en-US" dirty="0">
                <a:solidFill>
                  <a:srgbClr val="D4D4D4"/>
                </a:solidFill>
                <a:latin typeface="Cascadia Code Light" panose="020B0609020000020004" pitchFamily="49" charset="0"/>
                <a:cs typeface="Cascadia Code Light" panose="020B0609020000020004" pitchFamily="49" charset="0"/>
              </a:rPr>
              <a:t>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77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F49B-75A5-400B-6ACB-C6C3E734D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http internals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FFCBD-3AE4-6E0E-45D4-1083B2DEB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http module is comprised of 3 main classes, and 2 adjacent classes:</a:t>
            </a:r>
          </a:p>
          <a:p>
            <a:r>
              <a:rPr lang="en-US" dirty="0"/>
              <a:t>Main classes (with links):</a:t>
            </a: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http.Server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http.ServerResponse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http.ClientRequest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r>
              <a:rPr lang="en-US" dirty="0"/>
              <a:t>Adjacent classes (with links): </a:t>
            </a: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http.IncomingMessage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http.OutgoingMessage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39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CCDF4-0D86-1139-21FF-89EFE2D9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8F54-99D3-8E2D-8CC9-947D03A9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http internals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DA35E-DFDB-2AED-5B1A-80387014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http module is comprised of 3 main classes, and 2 adjacent classes:</a:t>
            </a:r>
          </a:p>
          <a:p>
            <a:r>
              <a:rPr lang="en-US" dirty="0"/>
              <a:t>Main classes (with links):</a:t>
            </a: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http.Server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“close”, ”</a:t>
            </a:r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clientError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”, “request”  </a:t>
            </a: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http.ServerResponse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”close”, “finish”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http.ClientRequest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”close”, “finish”, “response”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r>
              <a:rPr lang="en-US" dirty="0"/>
              <a:t>Adjacent classes (with links): </a:t>
            </a: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http.IncomingMessage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”close”, “data”, “end”, “error”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  <a:p>
            <a:pPr lvl="1"/>
            <a:r>
              <a:rPr lang="en-US" dirty="0" err="1">
                <a:solidFill>
                  <a:srgbClr val="FFFF00"/>
                </a:solidFill>
                <a:latin typeface="Cascadia Mono Light" panose="020B0609020000020004" pitchFamily="49" charset="0"/>
                <a:cs typeface="Cascadia Mono Light" panose="020B0609020000020004" pitchFamily="49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http.OutgoingMessage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”drain”, “finish” </a:t>
            </a:r>
            <a:endParaRPr lang="en-US" dirty="0">
              <a:solidFill>
                <a:srgbClr val="FFFF00"/>
              </a:solidFill>
              <a:latin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506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7086-5233-13E3-EC2B-8E001D23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ADFD-9C8A-32D7-D2FB-F744669C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http.Server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09E83-0C50-368C-4359-A9D9EF9B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class creates the actual server class that will start and listen for connections</a:t>
            </a:r>
          </a:p>
          <a:p>
            <a:r>
              <a:rPr lang="en-US" dirty="0"/>
              <a:t>Main methods:</a:t>
            </a:r>
          </a:p>
          <a:p>
            <a:pPr lvl="1"/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const server = </a:t>
            </a:r>
            <a:r>
              <a:rPr lang="en-US"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http.createServer</a:t>
            </a:r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()</a:t>
            </a:r>
            <a:r>
              <a:rPr lang="en-US" dirty="0"/>
              <a:t>: creates the 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server</a:t>
            </a:r>
            <a:r>
              <a:rPr lang="en-US" dirty="0"/>
              <a:t> object</a:t>
            </a:r>
          </a:p>
          <a:p>
            <a:pPr lvl="1"/>
            <a:r>
              <a:rPr lang="en-US"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server.listen</a:t>
            </a:r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(port, </a:t>
            </a:r>
            <a:r>
              <a:rPr lang="en-US"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callbackFn</a:t>
            </a:r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)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</a:t>
            </a:r>
            <a:r>
              <a:rPr lang="en-US" dirty="0">
                <a:cs typeface="Cascadia Mono Light" panose="020B0609020000020004" pitchFamily="49" charset="0"/>
              </a:rPr>
              <a:t>starts server on specified port</a:t>
            </a:r>
          </a:p>
          <a:p>
            <a:pPr lvl="2"/>
            <a:r>
              <a:rPr lang="en-US" sz="18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listening</a:t>
            </a:r>
            <a:r>
              <a:rPr lang="en-US" dirty="0">
                <a:cs typeface="Cascadia Mono Light" panose="020B0609020000020004" pitchFamily="49" charset="0"/>
              </a:rPr>
              <a:t> event is emitted on start</a:t>
            </a:r>
          </a:p>
          <a:p>
            <a:pPr lvl="2"/>
            <a:r>
              <a:rPr lang="en-US" sz="18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callbackFn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lang="en-US" dirty="0">
                <a:cs typeface="Cascadia Mono Light" panose="020B0609020000020004" pitchFamily="49" charset="0"/>
              </a:rPr>
              <a:t>listens for the event </a:t>
            </a:r>
            <a:r>
              <a:rPr lang="en-US" sz="18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listening</a:t>
            </a:r>
            <a:r>
              <a:rPr lang="en-US" dirty="0">
                <a:cs typeface="Cascadia Mono Light" panose="020B0609020000020004" pitchFamily="49" charset="0"/>
              </a:rPr>
              <a:t> and takes not params</a:t>
            </a:r>
          </a:p>
          <a:p>
            <a:pPr lvl="1"/>
            <a:r>
              <a:rPr lang="en-US"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server.on</a:t>
            </a:r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(“request”, </a:t>
            </a:r>
            <a:r>
              <a:rPr lang="en-US" sz="20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callbackFn</a:t>
            </a:r>
            <a:r>
              <a:rPr lang="en-US" sz="20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)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: </a:t>
            </a:r>
            <a:r>
              <a:rPr lang="en-US" dirty="0">
                <a:cs typeface="Cascadia Mono Light" panose="020B0609020000020004" pitchFamily="49" charset="0"/>
              </a:rPr>
              <a:t>handle a request event</a:t>
            </a:r>
          </a:p>
          <a:p>
            <a:pPr lvl="2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callbackFn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(req, res)</a:t>
            </a:r>
            <a:r>
              <a:rPr lang="en-US" dirty="0">
                <a:cs typeface="Cascadia Mono Light" panose="020B0609020000020004" pitchFamily="49" charset="0"/>
              </a:rPr>
              <a:t>: handles the client request</a:t>
            </a:r>
          </a:p>
          <a:p>
            <a:pPr lvl="3"/>
            <a:r>
              <a:rPr lang="en-US" sz="16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req</a:t>
            </a:r>
            <a:r>
              <a:rPr lang="en-US" dirty="0">
                <a:cs typeface="Cascadia Mono Light" panose="020B0609020000020004" pitchFamily="49" charset="0"/>
              </a:rPr>
              <a:t> is an </a:t>
            </a:r>
            <a:r>
              <a:rPr lang="en-US" sz="16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http.IncomingMessage</a:t>
            </a:r>
            <a:r>
              <a:rPr lang="en-US" sz="16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lang="en-US" dirty="0">
                <a:cs typeface="Cascadia Mono Light" panose="020B0609020000020004" pitchFamily="49" charset="0"/>
              </a:rPr>
              <a:t>object. Hold details of the request made to server</a:t>
            </a:r>
          </a:p>
          <a:p>
            <a:pPr lvl="3"/>
            <a:r>
              <a:rPr lang="en-US" sz="16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res</a:t>
            </a:r>
            <a:r>
              <a:rPr lang="en-US" dirty="0">
                <a:cs typeface="Cascadia Mono Light" panose="020B0609020000020004" pitchFamily="49" charset="0"/>
              </a:rPr>
              <a:t> is an </a:t>
            </a:r>
            <a:r>
              <a:rPr lang="en-US" sz="160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http.OutgoingMessage</a:t>
            </a:r>
            <a:r>
              <a:rPr lang="en-US" sz="160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 </a:t>
            </a:r>
            <a:r>
              <a:rPr lang="en-US" dirty="0">
                <a:cs typeface="Cascadia Mono Light" panose="020B0609020000020004" pitchFamily="49" charset="0"/>
              </a:rPr>
              <a:t>object. Hold details of the server response to client</a:t>
            </a:r>
          </a:p>
        </p:txBody>
      </p:sp>
    </p:spTree>
    <p:extLst>
      <p:ext uri="{BB962C8B-B14F-4D97-AF65-F5344CB8AC3E}">
        <p14:creationId xmlns:p14="http://schemas.microsoft.com/office/powerpoint/2010/main" val="2755361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D999-079E-95FE-65A8-D960F8AB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78C33-EFA1-5905-69E9-5BFD0D6E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 object is the request from client (</a:t>
            </a:r>
            <a:r>
              <a:rPr lang="en-US" dirty="0" err="1"/>
              <a:t>IncomingMessage</a:t>
            </a:r>
            <a:r>
              <a:rPr lang="en-US" dirty="0"/>
              <a:t>)</a:t>
            </a:r>
          </a:p>
          <a:p>
            <a:r>
              <a:rPr lang="en-US" dirty="0"/>
              <a:t>Events listening:	</a:t>
            </a:r>
          </a:p>
          <a:p>
            <a:pPr lvl="1"/>
            <a:r>
              <a:rPr lang="en-US" dirty="0"/>
              <a:t>data, end, error</a:t>
            </a:r>
          </a:p>
          <a:p>
            <a:r>
              <a:rPr lang="en-US" dirty="0"/>
              <a:t>Main properties: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req.method</a:t>
            </a:r>
            <a:r>
              <a:rPr lang="en-US" dirty="0"/>
              <a:t>: GET, POST, PUT, DELETE, PATCH, HEAD</a:t>
            </a:r>
          </a:p>
          <a:p>
            <a:pPr lvl="1"/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req.url</a:t>
            </a:r>
            <a:r>
              <a:rPr lang="en-US" dirty="0"/>
              <a:t>: resource path and query parameters (no domain)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req.headers</a:t>
            </a:r>
            <a:r>
              <a:rPr lang="en-US" dirty="0"/>
              <a:t>: object contain details about the request (similar to the header 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seen</a:t>
            </a:r>
            <a:r>
              <a:rPr lang="en-US" dirty="0"/>
              <a:t> at the beginning of this slideshow)</a:t>
            </a:r>
          </a:p>
        </p:txBody>
      </p:sp>
    </p:spTree>
    <p:extLst>
      <p:ext uri="{BB962C8B-B14F-4D97-AF65-F5344CB8AC3E}">
        <p14:creationId xmlns:p14="http://schemas.microsoft.com/office/powerpoint/2010/main" val="3573752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5D73-547F-27B5-FE55-C4A25CC8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AB2B-FCFB-C14B-87E8-3E64852B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21F05-223A-1BBC-BB45-9B07482A3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 object is the response to client (</a:t>
            </a:r>
            <a:r>
              <a:rPr lang="en-US" dirty="0" err="1"/>
              <a:t>OutgoingMessage</a:t>
            </a:r>
            <a:r>
              <a:rPr lang="en-US" dirty="0"/>
              <a:t>)</a:t>
            </a:r>
          </a:p>
          <a:p>
            <a:r>
              <a:rPr lang="en-US" dirty="0"/>
              <a:t>Events listening:	</a:t>
            </a:r>
          </a:p>
          <a:p>
            <a:pPr lvl="1"/>
            <a:r>
              <a:rPr lang="en-US" dirty="0"/>
              <a:t>data, end, error</a:t>
            </a:r>
          </a:p>
          <a:p>
            <a:r>
              <a:rPr lang="en-US" dirty="0"/>
              <a:t>Main properties: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res.statusCode</a:t>
            </a:r>
            <a:r>
              <a:rPr lang="en-US" dirty="0"/>
              <a:t>: 2xx, 3xx, 4xx, 5xx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res.setHeader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(key, value)</a:t>
            </a:r>
            <a:r>
              <a:rPr lang="en-US" dirty="0"/>
              <a:t>: set single property of header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req.writeHead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(code, header)</a:t>
            </a:r>
            <a:r>
              <a:rPr lang="en-US" dirty="0"/>
              <a:t>: send header and its code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req.write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(data)</a:t>
            </a:r>
            <a:r>
              <a:rPr lang="en-US" dirty="0"/>
              <a:t>: send data </a:t>
            </a:r>
          </a:p>
          <a:p>
            <a:pPr lvl="1"/>
            <a:r>
              <a:rPr lang="en-US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req.end</a:t>
            </a:r>
            <a:r>
              <a:rPr lang="en-US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(data): </a:t>
            </a:r>
            <a:r>
              <a:rPr lang="en-US" dirty="0"/>
              <a:t>send data and end response, data could be empty</a:t>
            </a:r>
          </a:p>
        </p:txBody>
      </p:sp>
    </p:spTree>
    <p:extLst>
      <p:ext uri="{BB962C8B-B14F-4D97-AF65-F5344CB8AC3E}">
        <p14:creationId xmlns:p14="http://schemas.microsoft.com/office/powerpoint/2010/main" val="2292444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4C4E-0CC5-B868-2223-8DCF0FA86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0D1DB-6A0E-6A00-FE72-B5A857D04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res.write</a:t>
            </a:r>
            <a:r>
              <a:rPr lang="en-US" dirty="0"/>
              <a:t>(data) is used to send chunks of text, but cannot send a file</a:t>
            </a:r>
          </a:p>
          <a:p>
            <a:r>
              <a:rPr lang="en-US" dirty="0"/>
              <a:t>To send a file we need to utilize the fs module and call the pipe() method like so:</a:t>
            </a:r>
          </a:p>
          <a:p>
            <a:endParaRPr lang="en-US" dirty="0"/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createReadStream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writeHead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50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6D6C-372F-8167-2484-D2989592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more about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5F9F-F5D4-4A3C-C765-750A990D3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article on servers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RFC 9110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NodeJS module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836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5598</TotalTime>
  <Words>1629</Words>
  <Application>Microsoft Office PowerPoint</Application>
  <PresentationFormat>Widescreen</PresentationFormat>
  <Paragraphs>223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Cascadia Code Light</vt:lpstr>
      <vt:lpstr>Cascadia Mono Light</vt:lpstr>
      <vt:lpstr>Consolas</vt:lpstr>
      <vt:lpstr>Georgia</vt:lpstr>
      <vt:lpstr>1_Office Theme</vt:lpstr>
      <vt:lpstr>WebDev</vt:lpstr>
      <vt:lpstr>Servers</vt:lpstr>
      <vt:lpstr>HTTP Protocol</vt:lpstr>
      <vt:lpstr>HTTP</vt:lpstr>
      <vt:lpstr>HTTP Request </vt:lpstr>
      <vt:lpstr>Request Start Line</vt:lpstr>
      <vt:lpstr>Request Header</vt:lpstr>
      <vt:lpstr>Request Body</vt:lpstr>
      <vt:lpstr>HTTP Response </vt:lpstr>
      <vt:lpstr>Response Start Line</vt:lpstr>
      <vt:lpstr>HTTP Response Header Example</vt:lpstr>
      <vt:lpstr>Media Types (MIME)</vt:lpstr>
      <vt:lpstr>NodeJS Event Emitter</vt:lpstr>
      <vt:lpstr>EventEmitter Example</vt:lpstr>
      <vt:lpstr>NodeJS Server</vt:lpstr>
      <vt:lpstr>Server Example – http://localhost:3000/</vt:lpstr>
      <vt:lpstr>NodeJS Server</vt:lpstr>
      <vt:lpstr>NodeJS http internals</vt:lpstr>
      <vt:lpstr>NodeJS http internals event</vt:lpstr>
      <vt:lpstr>http.Server </vt:lpstr>
      <vt:lpstr>req Object</vt:lpstr>
      <vt:lpstr>res Object</vt:lpstr>
      <vt:lpstr>Sending Files</vt:lpstr>
      <vt:lpstr>Read more about servers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18</cp:revision>
  <dcterms:created xsi:type="dcterms:W3CDTF">2025-07-07T15:37:20Z</dcterms:created>
  <dcterms:modified xsi:type="dcterms:W3CDTF">2025-10-29T16:24:59Z</dcterms:modified>
</cp:coreProperties>
</file>